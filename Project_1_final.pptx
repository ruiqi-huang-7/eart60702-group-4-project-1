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4"/>
  </p:sldMasterIdLst>
  <p:notesMasterIdLst>
    <p:notesMasterId r:id="rId18"/>
  </p:notesMasterIdLst>
  <p:handoutMasterIdLst>
    <p:handoutMasterId r:id="rId19"/>
  </p:handoutMasterIdLst>
  <p:sldIdLst>
    <p:sldId id="256" r:id="rId5"/>
    <p:sldId id="257" r:id="rId6"/>
    <p:sldId id="276" r:id="rId7"/>
    <p:sldId id="278" r:id="rId8"/>
    <p:sldId id="277" r:id="rId9"/>
    <p:sldId id="279" r:id="rId10"/>
    <p:sldId id="280" r:id="rId11"/>
    <p:sldId id="281" r:id="rId12"/>
    <p:sldId id="282" r:id="rId13"/>
    <p:sldId id="283" r:id="rId14"/>
    <p:sldId id="284" r:id="rId15"/>
    <p:sldId id="286" r:id="rId16"/>
    <p:sldId id="285" r:id="rId17"/>
  </p:sldIdLst>
  <p:sldSz cx="12192000" cy="6858000"/>
  <p:notesSz cx="6858000" cy="9144000"/>
  <p:custDataLst>
    <p:tags r:id="rId20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76" userDrawn="1">
          <p15:clr>
            <a:srgbClr val="A4A3A4"/>
          </p15:clr>
        </p15:guide>
        <p15:guide id="2" pos="3785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D4AF37"/>
    <a:srgbClr val="FE9B1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7E745F-D0BE-4AB5-A735-7A81F4BE7858}" styleName="表样式 1 14">
    <a:wholeTbl>
      <a:tcTxStyle>
        <a:fontRef idx="none">
          <a:srgbClr val="000000"/>
        </a:fontRef>
      </a:tcTxStyle>
      <a:tcStyle>
        <a:tcBdr>
          <a:left>
            <a:ln w="12700" cmpd="sng">
              <a:solidFill>
                <a:srgbClr val="808080"/>
              </a:solidFill>
              <a:prstDash val="solid"/>
            </a:ln>
          </a:left>
          <a:right>
            <a:ln w="12700" cmpd="sng">
              <a:solidFill>
                <a:srgbClr val="808080"/>
              </a:solidFill>
              <a:prstDash val="solid"/>
            </a:ln>
          </a:right>
          <a:top>
            <a:ln w="12700" cmpd="sng">
              <a:solidFill>
                <a:srgbClr val="808080"/>
              </a:solidFill>
              <a:prstDash val="solid"/>
            </a:ln>
          </a:top>
          <a:bottom>
            <a:ln w="12700" cmpd="sng">
              <a:solidFill>
                <a:srgbClr val="808080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rgbClr val="FFFFFF"/>
          </a:solidFill>
        </a:fill>
      </a:tcStyle>
    </a:wholeTbl>
    <a:band2H>
      <a:tcStyle>
        <a:tcBdr/>
        <a:fill>
          <a:solidFill>
            <a:srgbClr val="808080">
              <a:lumMod val="10000"/>
              <a:lumOff val="90000"/>
            </a:srgbClr>
          </a:solidFill>
        </a:fill>
      </a:tcStyle>
    </a:band2H>
    <a:band1V>
      <a:tcStyle>
        <a:tcBdr>
          <a:left>
            <a:ln w="12700" cmpd="sng">
              <a:solidFill>
                <a:srgbClr val="808080"/>
              </a:solidFill>
              <a:prstDash val="solid"/>
            </a:ln>
          </a:left>
          <a:right>
            <a:ln w="12700" cmpd="sng">
              <a:solidFill>
                <a:srgbClr val="808080"/>
              </a:solidFill>
              <a:prstDash val="solid"/>
            </a:ln>
          </a:right>
          <a:top>
            <a:ln w="12700" cmpd="sng">
              <a:solidFill>
                <a:srgbClr val="808080"/>
              </a:solidFill>
              <a:prstDash val="solid"/>
            </a:ln>
          </a:top>
          <a:bottom>
            <a:ln w="12700" cmpd="sng">
              <a:solidFill>
                <a:srgbClr val="808080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rgbClr val="808080">
              <a:lumMod val="10000"/>
              <a:lumOff val="90000"/>
            </a:srgbClr>
          </a:solidFill>
        </a:fill>
      </a:tcStyle>
    </a:band1V>
    <a:band2V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rgbClr val="808080"/>
              </a:solidFill>
              <a:prstDash val="solid"/>
            </a:ln>
          </a:top>
          <a:bottom>
            <a:ln w="12700" cmpd="sng">
              <a:solidFill>
                <a:srgbClr val="808080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band2V>
    <a:lastCol>
      <a:tcTxStyle b="on">
        <a:fontRef idx="none">
          <a:srgbClr val="08090C"/>
        </a:fontRef>
      </a:tcTxStyle>
      <a:tcStyle>
        <a:tcBdr>
          <a:left>
            <a:ln>
              <a:noFill/>
            </a:ln>
          </a:left>
          <a:right>
            <a:ln w="12700" cmpd="sng">
              <a:solidFill>
                <a:srgbClr val="808080"/>
              </a:solidFill>
              <a:prstDash val="solid"/>
            </a:ln>
          </a:right>
          <a:top>
            <a:ln w="12700" cmpd="sng">
              <a:solidFill>
                <a:srgbClr val="808080"/>
              </a:solidFill>
              <a:prstDash val="solid"/>
            </a:ln>
          </a:top>
          <a:bottom>
            <a:ln w="12700" cmpd="sng">
              <a:solidFill>
                <a:srgbClr val="808080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rgbClr val="808080">
              <a:lumMod val="20000"/>
              <a:lumOff val="80000"/>
            </a:srgbClr>
          </a:solidFill>
        </a:fill>
      </a:tcStyle>
    </a:lastCol>
    <a:firstCol>
      <a:tcTxStyle b="on">
        <a:fontRef idx="none">
          <a:srgbClr val="08090C"/>
        </a:fontRef>
      </a:tcTxStyle>
      <a:tcStyle>
        <a:tcBdr>
          <a:left>
            <a:ln w="12700" cmpd="sng">
              <a:solidFill>
                <a:srgbClr val="808080"/>
              </a:solidFill>
              <a:prstDash val="solid"/>
            </a:ln>
          </a:left>
          <a:right>
            <a:ln>
              <a:noFill/>
            </a:ln>
          </a:right>
          <a:top>
            <a:ln w="12700" cmpd="sng">
              <a:solidFill>
                <a:srgbClr val="808080"/>
              </a:solidFill>
              <a:prstDash val="solid"/>
            </a:ln>
          </a:top>
          <a:bottom>
            <a:ln w="12700" cmpd="sng">
              <a:solidFill>
                <a:srgbClr val="808080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rgbClr val="808080">
              <a:lumMod val="20000"/>
              <a:lumOff val="80000"/>
            </a:srgbClr>
          </a:solidFill>
        </a:fill>
      </a:tcStyle>
    </a:firstCol>
    <a:lastRow>
      <a:tcTxStyle b="on">
        <a:fontRef idx="none">
          <a:srgbClr val="808080"/>
        </a:fontRef>
      </a:tcTxStyle>
      <a:tcStyle>
        <a:tcBdr>
          <a:left>
            <a:ln w="12700" cmpd="sng">
              <a:solidFill>
                <a:srgbClr val="808080"/>
              </a:solidFill>
              <a:prstDash val="solid"/>
            </a:ln>
          </a:left>
          <a:right>
            <a:ln w="12700" cmpd="sng">
              <a:solidFill>
                <a:srgbClr val="808080"/>
              </a:solidFill>
              <a:prstDash val="solid"/>
            </a:ln>
          </a:right>
          <a:top>
            <a:ln w="9525" cmpd="sng">
              <a:solidFill>
                <a:srgbClr val="808080"/>
              </a:solidFill>
              <a:prstDash val="solid"/>
            </a:ln>
          </a:top>
          <a:bottom>
            <a:ln w="12700" cmpd="sng">
              <a:solidFill>
                <a:srgbClr val="808080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rgbClr val="FFFFFF"/>
          </a:solidFill>
        </a:fill>
      </a:tcStyle>
    </a:lastRow>
    <a:seCell>
      <a:tcStyle>
        <a:tcBdr>
          <a:left>
            <a:ln>
              <a:noFill/>
            </a:ln>
          </a:left>
          <a:right>
            <a:ln w="12700" cmpd="sng">
              <a:solidFill>
                <a:srgbClr val="808080"/>
              </a:solidFill>
              <a:prstDash val="solid"/>
            </a:ln>
          </a:right>
          <a:top>
            <a:ln w="9525" cmpd="sng">
              <a:solidFill>
                <a:srgbClr val="808080"/>
              </a:solidFill>
              <a:prstDash val="solid"/>
            </a:ln>
          </a:top>
          <a:bottom>
            <a:ln w="12700" cmpd="sng">
              <a:solidFill>
                <a:srgbClr val="808080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rgbClr val="FFFFFF"/>
          </a:solidFill>
        </a:fill>
      </a:tcStyle>
    </a:seCell>
    <a:swCell>
      <a:tcStyle>
        <a:tcBdr>
          <a:left>
            <a:ln w="12700" cmpd="sng">
              <a:solidFill>
                <a:srgbClr val="808080"/>
              </a:solidFill>
              <a:prstDash val="solid"/>
            </a:ln>
          </a:left>
          <a:right>
            <a:ln>
              <a:noFill/>
            </a:ln>
          </a:right>
          <a:top>
            <a:ln w="9525" cmpd="sng">
              <a:solidFill>
                <a:srgbClr val="808080"/>
              </a:solidFill>
              <a:prstDash val="solid"/>
            </a:ln>
          </a:top>
          <a:bottom>
            <a:ln w="12700" cmpd="sng">
              <a:solidFill>
                <a:srgbClr val="808080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rgbClr val="FFFFFF"/>
          </a:solidFill>
        </a:fill>
      </a:tcStyle>
    </a:swCell>
    <a:firstRow>
      <a:tcTxStyle b="on">
        <a:fontRef idx="none">
          <a:srgbClr val="808080"/>
        </a:fontRef>
      </a:tcTxStyle>
      <a:tcStyle>
        <a:tcBdr>
          <a:left>
            <a:ln w="12700" cmpd="sng">
              <a:solidFill>
                <a:srgbClr val="808080"/>
              </a:solidFill>
              <a:prstDash val="solid"/>
            </a:ln>
          </a:left>
          <a:right>
            <a:ln w="12700" cmpd="sng">
              <a:solidFill>
                <a:srgbClr val="808080"/>
              </a:solidFill>
              <a:prstDash val="solid"/>
            </a:ln>
          </a:right>
          <a:top>
            <a:ln w="12700" cmpd="sng">
              <a:solidFill>
                <a:srgbClr val="808080"/>
              </a:solidFill>
              <a:prstDash val="solid"/>
            </a:ln>
          </a:top>
          <a:bottom>
            <a:ln w="9525" cmpd="sng">
              <a:solidFill>
                <a:srgbClr val="808080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rgbClr val="808080">
              <a:lumMod val="20000"/>
              <a:lumOff val="80000"/>
            </a:srgb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 showGuides="1">
      <p:cViewPr varScale="1">
        <p:scale>
          <a:sx n="78" d="100"/>
          <a:sy n="78" d="100"/>
        </p:scale>
        <p:origin x="658" y="62"/>
      </p:cViewPr>
      <p:guideLst>
        <p:guide orient="horz" pos="2276"/>
        <p:guide pos="3785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21" Type="http://schemas.openxmlformats.org/officeDocument/2006/relationships/presProps" Target="pres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tags" Target="tags/tag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>
                <a:latin typeface="Arial" panose="020B0604020202020204" pitchFamily="34" charset="0"/>
                <a:ea typeface="Arial" panose="020B0604020202020204" pitchFamily="34" charset="0"/>
              </a:rPr>
              <a:t>2026/2/23</a:t>
            </a:fld>
            <a:endParaRPr lang="zh-CN" altLang="en-US"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>
                <a:latin typeface="Arial" panose="020B0604020202020204" pitchFamily="34" charset="0"/>
                <a:ea typeface="Arial" panose="020B0604020202020204" pitchFamily="34" charset="0"/>
              </a:rPr>
              <a:t>‹#›</a:t>
            </a:fld>
            <a:endParaRPr lang="zh-CN" altLang="en-US"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Arial" panose="020B0604020202020204" pitchFamily="34" charset="0"/>
                <a:ea typeface="Arial" panose="020B0604020202020204" pitchFamily="34" charset="0"/>
              </a:defRPr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Arial" panose="020B0604020202020204" pitchFamily="34" charset="0"/>
                <a:ea typeface="Arial" panose="020B0604020202020204" pitchFamily="34" charset="0"/>
              </a:defRPr>
            </a:lvl1pPr>
          </a:lstStyle>
          <a:p>
            <a:fld id="{D2A48B96-639E-45A3-A0BA-2464DFDB1FAA}" type="datetimeFigureOut">
              <a:rPr lang="zh-CN" altLang="en-US" smtClean="0"/>
              <a:t>2026/2/23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Arial" panose="020B0604020202020204" pitchFamily="34" charset="0"/>
                <a:ea typeface="Arial" panose="020B0604020202020204" pitchFamily="34" charset="0"/>
              </a:defRPr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Arial" panose="020B0604020202020204" pitchFamily="34" charset="0"/>
                <a:ea typeface="Arial" panose="020B0604020202020204" pitchFamily="34" charset="0"/>
              </a:defRPr>
            </a:lvl1pPr>
          </a:lstStyle>
          <a:p>
            <a:fld id="{A6837353-30EB-4A48-80EB-173D804AEFBD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Arial" panose="020B0604020202020204" pitchFamily="34" charset="0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Arial" panose="020B0604020202020204" pitchFamily="34" charset="0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Arial" panose="020B0604020202020204" pitchFamily="34" charset="0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Arial" panose="020B0604020202020204" pitchFamily="34" charset="0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Arial" panose="020B0604020202020204" pitchFamily="34" charset="0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5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0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0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7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7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0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0" y="1435100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8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8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0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0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</a:defRPr>
            </a:lvl1pPr>
          </a:lstStyle>
          <a:p>
            <a:fld id="{5BCAD085-E8A6-8845-BD4E-CB4CCA059FC4}" type="datetimeFigureOut">
              <a:rPr lang="en-US" smtClean="0"/>
              <a:t>2/23/2026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0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0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Arial" panose="020B0604020202020204" pitchFamily="34" charset="0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Arial" panose="020B0604020202020204" pitchFamily="34" charset="0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Arial" panose="020B0604020202020204" pitchFamily="34" charset="0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Arial" panose="020B0604020202020204" pitchFamily="34" charset="0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emf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emf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emf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tags" Target="../tags/tag9.xml"/><Relationship Id="rId13" Type="http://schemas.openxmlformats.org/officeDocument/2006/relationships/tags" Target="../tags/tag14.xml"/><Relationship Id="rId3" Type="http://schemas.openxmlformats.org/officeDocument/2006/relationships/tags" Target="../tags/tag4.xml"/><Relationship Id="rId7" Type="http://schemas.openxmlformats.org/officeDocument/2006/relationships/tags" Target="../tags/tag8.xml"/><Relationship Id="rId12" Type="http://schemas.openxmlformats.org/officeDocument/2006/relationships/tags" Target="../tags/tag13.xml"/><Relationship Id="rId17" Type="http://schemas.openxmlformats.org/officeDocument/2006/relationships/slideLayout" Target="../slideLayouts/slideLayout7.xml"/><Relationship Id="rId2" Type="http://schemas.openxmlformats.org/officeDocument/2006/relationships/tags" Target="../tags/tag3.xml"/><Relationship Id="rId16" Type="http://schemas.openxmlformats.org/officeDocument/2006/relationships/tags" Target="../tags/tag17.xml"/><Relationship Id="rId1" Type="http://schemas.openxmlformats.org/officeDocument/2006/relationships/tags" Target="../tags/tag2.xml"/><Relationship Id="rId6" Type="http://schemas.openxmlformats.org/officeDocument/2006/relationships/tags" Target="../tags/tag7.xml"/><Relationship Id="rId11" Type="http://schemas.openxmlformats.org/officeDocument/2006/relationships/tags" Target="../tags/tag12.xml"/><Relationship Id="rId5" Type="http://schemas.openxmlformats.org/officeDocument/2006/relationships/tags" Target="../tags/tag6.xml"/><Relationship Id="rId15" Type="http://schemas.openxmlformats.org/officeDocument/2006/relationships/tags" Target="../tags/tag16.xml"/><Relationship Id="rId10" Type="http://schemas.openxmlformats.org/officeDocument/2006/relationships/tags" Target="../tags/tag11.xml"/><Relationship Id="rId4" Type="http://schemas.openxmlformats.org/officeDocument/2006/relationships/tags" Target="../tags/tag5.xml"/><Relationship Id="rId9" Type="http://schemas.openxmlformats.org/officeDocument/2006/relationships/tags" Target="../tags/tag10.xml"/><Relationship Id="rId14" Type="http://schemas.openxmlformats.org/officeDocument/2006/relationships/tags" Target="../tags/tag1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2373194" y="3696638"/>
            <a:ext cx="7608172" cy="19389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D4AF37"/>
                </a:solidFill>
              </a:defRPr>
            </a:pPr>
            <a:r>
              <a:rPr lang="en-US" sz="2400" dirty="0">
                <a:solidFill>
                  <a:schemeClr val="bg1"/>
                </a:solidFill>
              </a:rPr>
              <a:t>EART</a:t>
            </a:r>
            <a:r>
              <a:rPr lang="en-US" altLang="zh-CN" sz="2400" dirty="0">
                <a:solidFill>
                  <a:schemeClr val="bg1"/>
                </a:solidFill>
              </a:rPr>
              <a:t>60702 </a:t>
            </a:r>
            <a:r>
              <a:rPr lang="en-US" altLang="zh-CN" sz="2400" b="1" dirty="0">
                <a:solidFill>
                  <a:schemeClr val="bg1"/>
                </a:solidFill>
              </a:rPr>
              <a:t>Earth and Environmental Data Science</a:t>
            </a:r>
          </a:p>
          <a:p>
            <a:pPr algn="ctr">
              <a:defRPr sz="4000" b="1">
                <a:solidFill>
                  <a:srgbClr val="D4AF37"/>
                </a:solidFill>
              </a:defRPr>
            </a:pPr>
            <a:endParaRPr lang="en-US" altLang="zh-CN" sz="2400" b="1" dirty="0">
              <a:solidFill>
                <a:schemeClr val="bg1"/>
              </a:solidFill>
            </a:endParaRPr>
          </a:p>
          <a:p>
            <a:pPr algn="ctr">
              <a:defRPr sz="4000" b="1">
                <a:solidFill>
                  <a:srgbClr val="D4AF37"/>
                </a:solidFill>
              </a:defRPr>
            </a:pPr>
            <a:r>
              <a:rPr lang="en-US" altLang="zh-CN" sz="2400" b="1" dirty="0">
                <a:solidFill>
                  <a:schemeClr val="bg1"/>
                </a:solidFill>
              </a:rPr>
              <a:t>Group 4</a:t>
            </a:r>
          </a:p>
          <a:p>
            <a:pPr algn="ctr">
              <a:defRPr sz="4000" b="1">
                <a:solidFill>
                  <a:srgbClr val="D4AF37"/>
                </a:solidFill>
              </a:defRPr>
            </a:pPr>
            <a:endParaRPr lang="en-US" altLang="zh-CN" sz="2400" b="1" dirty="0">
              <a:solidFill>
                <a:schemeClr val="bg1"/>
              </a:solidFill>
            </a:endParaRPr>
          </a:p>
          <a:p>
            <a:pPr algn="ctr">
              <a:defRPr sz="4000" b="1">
                <a:solidFill>
                  <a:srgbClr val="D4AF37"/>
                </a:solidFill>
              </a:defRPr>
            </a:pPr>
            <a:r>
              <a:rPr lang="en-US" altLang="zh-CN" sz="2400" b="1" dirty="0">
                <a:solidFill>
                  <a:schemeClr val="bg1"/>
                </a:solidFill>
              </a:rPr>
              <a:t>Members</a:t>
            </a:r>
            <a:r>
              <a:rPr lang="zh-CN" altLang="en-US" sz="2400" b="1" dirty="0">
                <a:solidFill>
                  <a:schemeClr val="bg1"/>
                </a:solidFill>
              </a:rPr>
              <a:t>： </a:t>
            </a:r>
            <a:r>
              <a:rPr lang="en-US" altLang="zh-CN" sz="2400" b="1" dirty="0">
                <a:solidFill>
                  <a:schemeClr val="bg1"/>
                </a:solidFill>
              </a:rPr>
              <a:t>Ruiqi Huang</a:t>
            </a:r>
            <a:r>
              <a:rPr lang="zh-CN" altLang="en-US" sz="2400" b="1" dirty="0">
                <a:solidFill>
                  <a:schemeClr val="bg1"/>
                </a:solidFill>
              </a:rPr>
              <a:t>， </a:t>
            </a:r>
            <a:r>
              <a:rPr lang="en-US" altLang="zh-CN" sz="2400" b="1" dirty="0">
                <a:solidFill>
                  <a:schemeClr val="bg1"/>
                </a:solidFill>
              </a:rPr>
              <a:t>Kedi Li</a:t>
            </a:r>
            <a:r>
              <a:rPr lang="zh-CN" altLang="en-US" sz="2400" b="1" dirty="0">
                <a:solidFill>
                  <a:schemeClr val="bg1"/>
                </a:solidFill>
              </a:rPr>
              <a:t>， </a:t>
            </a:r>
            <a:r>
              <a:rPr lang="en-US" altLang="zh-CN" sz="2400" b="1" dirty="0">
                <a:solidFill>
                  <a:schemeClr val="bg1"/>
                </a:solidFill>
              </a:rPr>
              <a:t>Yuhui Duan</a:t>
            </a:r>
          </a:p>
        </p:txBody>
      </p:sp>
      <p:sp>
        <p:nvSpPr>
          <p:cNvPr id="4" name="文本框 3"/>
          <p:cNvSpPr txBox="1"/>
          <p:nvPr/>
        </p:nvSpPr>
        <p:spPr>
          <a:xfrm>
            <a:off x="2269264" y="1386840"/>
            <a:ext cx="8940165" cy="15684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altLang="zh-CN" sz="3200" b="1" dirty="0">
                <a:solidFill>
                  <a:srgbClr val="D4AF37"/>
                </a:solidFill>
              </a:rPr>
              <a:t>What Drives a Warming Climate? </a:t>
            </a:r>
          </a:p>
          <a:p>
            <a:pPr algn="ctr"/>
            <a:r>
              <a:rPr lang="en-GB" altLang="zh-CN" sz="3200" b="1" dirty="0">
                <a:solidFill>
                  <a:srgbClr val="D4AF37"/>
                </a:solidFill>
              </a:rPr>
              <a:t>Exploring the Physical Mechanisms Behind Regional Climate Change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文本框 7"/>
          <p:cNvSpPr txBox="1"/>
          <p:nvPr/>
        </p:nvSpPr>
        <p:spPr>
          <a:xfrm>
            <a:off x="126602" y="3597443"/>
            <a:ext cx="1397398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 dirty="0"/>
          </a:p>
        </p:txBody>
      </p:sp>
      <p:sp>
        <p:nvSpPr>
          <p:cNvPr id="5" name="文本框 4"/>
          <p:cNvSpPr txBox="1"/>
          <p:nvPr/>
        </p:nvSpPr>
        <p:spPr>
          <a:xfrm>
            <a:off x="3015161" y="108404"/>
            <a:ext cx="7672504" cy="686616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GB" altLang="zh-CN" sz="3200" b="1" dirty="0">
                <a:solidFill>
                  <a:srgbClr val="D4AF37"/>
                </a:solidFill>
              </a:rPr>
              <a:t>Study Area </a:t>
            </a:r>
            <a:r>
              <a:rPr lang="zh-CN" altLang="en-US" sz="3200" b="1" dirty="0">
                <a:solidFill>
                  <a:srgbClr val="D4AF37"/>
                </a:solidFill>
              </a:rPr>
              <a:t>&amp; </a:t>
            </a:r>
            <a:r>
              <a:rPr lang="en-US" altLang="zh-CN" sz="3200" b="1" dirty="0">
                <a:solidFill>
                  <a:srgbClr val="D4AF37"/>
                </a:solidFill>
              </a:rPr>
              <a:t>Research Question</a:t>
            </a:r>
            <a:endParaRPr lang="en-US" altLang="zh-CN" sz="3200" b="1" dirty="0">
              <a:solidFill>
                <a:srgbClr val="FFC000"/>
              </a:solidFill>
            </a:endParaRPr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3542" y="962450"/>
            <a:ext cx="5602780" cy="3426001"/>
          </a:xfrm>
          <a:prstGeom prst="rect">
            <a:avLst/>
          </a:prstGeom>
        </p:spPr>
      </p:pic>
      <p:sp>
        <p:nvSpPr>
          <p:cNvPr id="9" name="文本框 8"/>
          <p:cNvSpPr txBox="1"/>
          <p:nvPr/>
        </p:nvSpPr>
        <p:spPr>
          <a:xfrm>
            <a:off x="373808" y="1267569"/>
            <a:ext cx="5384165" cy="9220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solidFill>
                  <a:srgbClr val="D4AF37"/>
                </a:solidFill>
              </a:rPr>
              <a:t>The coordinate of study area is </a:t>
            </a:r>
            <a:r>
              <a:rPr lang="en-US" altLang="zh-CN" b="1" dirty="0">
                <a:solidFill>
                  <a:srgbClr val="D4AF37"/>
                </a:solidFill>
              </a:rPr>
              <a:t>53.246</a:t>
            </a:r>
            <a:r>
              <a:rPr lang="en-US" altLang="en-US" b="1" dirty="0">
                <a:solidFill>
                  <a:srgbClr val="D4AF37"/>
                </a:solidFill>
              </a:rPr>
              <a:t>°</a:t>
            </a:r>
            <a:r>
              <a:rPr lang="en-US" altLang="zh-CN" b="1" dirty="0">
                <a:solidFill>
                  <a:srgbClr val="D4AF37"/>
                </a:solidFill>
              </a:rPr>
              <a:t> N, 2.5</a:t>
            </a:r>
            <a:r>
              <a:rPr lang="en-US" altLang="en-US" b="1" dirty="0">
                <a:solidFill>
                  <a:srgbClr val="D4AF37"/>
                </a:solidFill>
              </a:rPr>
              <a:t>°</a:t>
            </a:r>
            <a:r>
              <a:rPr lang="en-US" altLang="zh-CN" b="1" dirty="0">
                <a:solidFill>
                  <a:srgbClr val="D4AF37"/>
                </a:solidFill>
              </a:rPr>
              <a:t> W, </a:t>
            </a:r>
            <a:r>
              <a:rPr lang="en-US" altLang="zh-CN" dirty="0">
                <a:solidFill>
                  <a:srgbClr val="D4AF37"/>
                </a:solidFill>
              </a:rPr>
              <a:t>which are located in </a:t>
            </a:r>
            <a:r>
              <a:rPr lang="en-US" altLang="zh-CN" b="1" dirty="0">
                <a:solidFill>
                  <a:srgbClr val="D4AF37"/>
                </a:solidFill>
              </a:rPr>
              <a:t>Cheshire</a:t>
            </a:r>
            <a:r>
              <a:rPr lang="en-US" altLang="zh-CN" dirty="0">
                <a:solidFill>
                  <a:srgbClr val="D4AF37"/>
                </a:solidFill>
              </a:rPr>
              <a:t>, UK, in northwest England , near Manchester and Liverpool..</a:t>
            </a:r>
          </a:p>
        </p:txBody>
      </p:sp>
      <p:sp>
        <p:nvSpPr>
          <p:cNvPr id="12" name="文本框 11"/>
          <p:cNvSpPr txBox="1"/>
          <p:nvPr/>
        </p:nvSpPr>
        <p:spPr>
          <a:xfrm>
            <a:off x="373808" y="2417516"/>
            <a:ext cx="5929744" cy="2022853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dirty="0">
                <a:solidFill>
                  <a:schemeClr val="bg1"/>
                </a:solidFill>
              </a:rPr>
              <a:t>The region has a typical </a:t>
            </a:r>
            <a:r>
              <a:rPr lang="en-US" altLang="zh-CN" b="1" dirty="0">
                <a:solidFill>
                  <a:schemeClr val="bg1"/>
                </a:solidFill>
              </a:rPr>
              <a:t>temperate maritime climate</a:t>
            </a:r>
            <a:r>
              <a:rPr lang="en-US" altLang="zh-CN" dirty="0">
                <a:solidFill>
                  <a:schemeClr val="bg1"/>
                </a:solidFill>
              </a:rPr>
              <a:t>. </a:t>
            </a:r>
          </a:p>
          <a:p>
            <a:r>
              <a:rPr lang="en-US" altLang="zh-CN" dirty="0">
                <a:solidFill>
                  <a:schemeClr val="bg1"/>
                </a:solidFill>
              </a:rPr>
              <a:t>The climate is mild and humid year-round (</a:t>
            </a:r>
            <a:r>
              <a:rPr lang="en-US" altLang="zh-CN" dirty="0" err="1">
                <a:solidFill>
                  <a:schemeClr val="bg1"/>
                </a:solidFill>
              </a:rPr>
              <a:t>Minobe</a:t>
            </a:r>
            <a:r>
              <a:rPr lang="en-US" altLang="zh-CN" dirty="0">
                <a:solidFill>
                  <a:schemeClr val="bg1"/>
                </a:solidFill>
              </a:rPr>
              <a:t>, </a:t>
            </a:r>
            <a:r>
              <a:rPr lang="en-US" altLang="zh-CN" dirty="0" err="1">
                <a:solidFill>
                  <a:schemeClr val="bg1"/>
                </a:solidFill>
              </a:rPr>
              <a:t>Kuwano</a:t>
            </a:r>
            <a:r>
              <a:rPr lang="en-US" altLang="zh-CN" dirty="0">
                <a:solidFill>
                  <a:schemeClr val="bg1"/>
                </a:solidFill>
              </a:rPr>
              <a:t>-Yoshida et al. 2008, Palter 2015).</a:t>
            </a:r>
          </a:p>
          <a:p>
            <a:endParaRPr lang="en-US" altLang="zh-CN" dirty="0">
              <a:solidFill>
                <a:schemeClr val="bg1"/>
              </a:solidFill>
            </a:endParaRPr>
          </a:p>
          <a:p>
            <a:r>
              <a:rPr lang="en-US" altLang="zh-CN" dirty="0">
                <a:solidFill>
                  <a:schemeClr val="bg1"/>
                </a:solidFill>
              </a:rPr>
              <a:t>However, the frequence of extreme weathers events are increasing in europe (Weilnhammer, Schmid et al. 2021)</a:t>
            </a:r>
          </a:p>
        </p:txBody>
      </p:sp>
      <p:sp>
        <p:nvSpPr>
          <p:cNvPr id="181" name="圆角矩形 180"/>
          <p:cNvSpPr/>
          <p:nvPr/>
        </p:nvSpPr>
        <p:spPr>
          <a:xfrm>
            <a:off x="522605" y="4947285"/>
            <a:ext cx="11383645" cy="1381760"/>
          </a:xfrm>
          <a:prstGeom prst="roundRect">
            <a:avLst/>
          </a:prstGeom>
          <a:noFill/>
          <a:ln w="19050">
            <a:solidFill>
              <a:schemeClr val="bg1"/>
            </a:solidFill>
            <a:prstDash val="dash"/>
          </a:ln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solidFill>
                <a:schemeClr val="tx1"/>
              </a:solidFill>
            </a:endParaRPr>
          </a:p>
        </p:txBody>
      </p:sp>
      <p:sp>
        <p:nvSpPr>
          <p:cNvPr id="13" name="Rectangle 2"/>
          <p:cNvSpPr/>
          <p:nvPr/>
        </p:nvSpPr>
        <p:spPr>
          <a:xfrm>
            <a:off x="245110" y="718820"/>
            <a:ext cx="11661140" cy="762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文本框 1"/>
          <p:cNvSpPr txBox="1"/>
          <p:nvPr/>
        </p:nvSpPr>
        <p:spPr>
          <a:xfrm>
            <a:off x="1023739" y="5092228"/>
            <a:ext cx="10509167" cy="92202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altLang="zh-CN" sz="3200" b="1" dirty="0">
                <a:solidFill>
                  <a:schemeClr val="bg1"/>
                </a:solidFill>
              </a:rPr>
              <a:t>How does the weather change with time, </a:t>
            </a:r>
          </a:p>
          <a:p>
            <a:pPr algn="ctr"/>
            <a:r>
              <a:rPr lang="en-US" altLang="zh-CN" sz="3200" b="1" dirty="0">
                <a:solidFill>
                  <a:schemeClr val="bg1"/>
                </a:solidFill>
              </a:rPr>
              <a:t>and their potential controlling factors?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/>
          <p:cNvSpPr txBox="1"/>
          <p:nvPr/>
        </p:nvSpPr>
        <p:spPr>
          <a:xfrm>
            <a:off x="245110" y="196850"/>
            <a:ext cx="1169289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altLang="zh-CN" sz="2800" b="1" dirty="0">
                <a:solidFill>
                  <a:srgbClr val="D4AF37"/>
                </a:solidFill>
              </a:rPr>
              <a:t>Trend Analysis——Temperature Trend &amp; Seasonal Distribution</a:t>
            </a:r>
          </a:p>
        </p:txBody>
      </p:sp>
      <p:sp>
        <p:nvSpPr>
          <p:cNvPr id="13" name="Rectangle 2"/>
          <p:cNvSpPr/>
          <p:nvPr/>
        </p:nvSpPr>
        <p:spPr>
          <a:xfrm>
            <a:off x="245110" y="718820"/>
            <a:ext cx="11661140" cy="762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矩形 28"/>
          <p:cNvSpPr/>
          <p:nvPr/>
        </p:nvSpPr>
        <p:spPr>
          <a:xfrm>
            <a:off x="300990" y="1651635"/>
            <a:ext cx="4237990" cy="4051336"/>
          </a:xfrm>
          <a:prstGeom prst="rect">
            <a:avLst/>
          </a:prstGeom>
          <a:noFill/>
          <a:ln w="1905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solidFill>
                <a:schemeClr val="tx1"/>
              </a:solidFill>
            </a:endParaRPr>
          </a:p>
        </p:txBody>
      </p:sp>
      <p:sp>
        <p:nvSpPr>
          <p:cNvPr id="6" name="矩形 5"/>
          <p:cNvSpPr/>
          <p:nvPr/>
        </p:nvSpPr>
        <p:spPr>
          <a:xfrm>
            <a:off x="301625" y="1005205"/>
            <a:ext cx="4248785" cy="60896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solidFill>
                <a:schemeClr val="tx1"/>
              </a:solidFill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701040" y="1125220"/>
            <a:ext cx="330073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>
                <a:solidFill>
                  <a:schemeClr val="bg1"/>
                </a:solidFill>
              </a:rPr>
              <a:t>Temperature Trend Line Plot</a:t>
            </a:r>
          </a:p>
        </p:txBody>
      </p:sp>
      <p:sp>
        <p:nvSpPr>
          <p:cNvPr id="7" name="文本框 6"/>
          <p:cNvSpPr txBox="1"/>
          <p:nvPr/>
        </p:nvSpPr>
        <p:spPr>
          <a:xfrm>
            <a:off x="416372" y="1817169"/>
            <a:ext cx="4122539" cy="4235514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indent="0">
              <a:buFont typeface="Wingdings" panose="05000000000000000000" charset="0"/>
              <a:buNone/>
            </a:pPr>
            <a:r>
              <a:rPr lang="en-US" altLang="zh-CN" b="1" dirty="0">
                <a:solidFill>
                  <a:schemeClr val="bg1"/>
                </a:solidFill>
              </a:rPr>
              <a:t>Key findings:</a:t>
            </a:r>
          </a:p>
          <a:p>
            <a:pPr indent="0">
              <a:buFont typeface="Wingdings" panose="05000000000000000000" charset="0"/>
              <a:buNone/>
            </a:pPr>
            <a:r>
              <a:rPr lang="en-US" altLang="zh-CN" dirty="0">
                <a:solidFill>
                  <a:schemeClr val="bg1"/>
                </a:solidFill>
              </a:rPr>
              <a:t>The data shows a significant upward trend in linear regression.</a:t>
            </a:r>
          </a:p>
          <a:p>
            <a:pPr indent="0">
              <a:buFont typeface="Wingdings" panose="05000000000000000000" charset="0"/>
              <a:buNone/>
            </a:pPr>
            <a:r>
              <a:rPr lang="en-US" altLang="zh-CN" dirty="0">
                <a:solidFill>
                  <a:schemeClr val="bg1"/>
                </a:solidFill>
              </a:rPr>
              <a:t>•  Mean annual temperature: 10–13.5</a:t>
            </a:r>
            <a:r>
              <a:rPr lang="en-US" altLang="en-US" dirty="0">
                <a:solidFill>
                  <a:schemeClr val="bg1"/>
                </a:solidFill>
              </a:rPr>
              <a:t>°</a:t>
            </a:r>
            <a:r>
              <a:rPr lang="en-US" altLang="zh-CN" dirty="0">
                <a:solidFill>
                  <a:schemeClr val="bg1"/>
                </a:solidFill>
              </a:rPr>
              <a:t>C</a:t>
            </a:r>
            <a:br>
              <a:rPr lang="en-US" altLang="zh-CN" dirty="0">
                <a:solidFill>
                  <a:schemeClr val="bg1"/>
                </a:solidFill>
              </a:rPr>
            </a:br>
            <a:r>
              <a:rPr lang="en-US" altLang="zh-CN" dirty="0">
                <a:solidFill>
                  <a:schemeClr val="bg1"/>
                </a:solidFill>
              </a:rPr>
              <a:t>•  Strong upward trend (R ≈ 0.92)</a:t>
            </a:r>
            <a:br>
              <a:rPr lang="en-US" altLang="zh-CN" dirty="0">
                <a:solidFill>
                  <a:schemeClr val="bg1"/>
                </a:solidFill>
              </a:rPr>
            </a:br>
            <a:r>
              <a:rPr lang="en-US" altLang="zh-CN" dirty="0">
                <a:solidFill>
                  <a:schemeClr val="bg1"/>
                </a:solidFill>
              </a:rPr>
              <a:t>•  Approx. 0.4</a:t>
            </a:r>
            <a:r>
              <a:rPr lang="en-US" altLang="en-US" dirty="0">
                <a:solidFill>
                  <a:schemeClr val="bg1"/>
                </a:solidFill>
              </a:rPr>
              <a:t>°</a:t>
            </a:r>
            <a:r>
              <a:rPr lang="en-US" altLang="zh-CN" dirty="0">
                <a:solidFill>
                  <a:schemeClr val="bg1"/>
                </a:solidFill>
              </a:rPr>
              <a:t>C per decade</a:t>
            </a:r>
          </a:p>
          <a:p>
            <a:endParaRPr lang="en-US" altLang="zh-CN" dirty="0">
              <a:solidFill>
                <a:schemeClr val="bg1"/>
              </a:solidFill>
            </a:endParaRPr>
          </a:p>
          <a:p>
            <a:r>
              <a:rPr lang="en-US" altLang="zh-CN" b="1" dirty="0">
                <a:solidFill>
                  <a:schemeClr val="bg1"/>
                </a:solidFill>
              </a:rPr>
              <a:t>Physical significance:</a:t>
            </a:r>
          </a:p>
          <a:p>
            <a:pPr indent="0">
              <a:buNone/>
            </a:pPr>
            <a:r>
              <a:rPr lang="en-US" altLang="zh-CN" dirty="0">
                <a:solidFill>
                  <a:schemeClr val="bg1"/>
                </a:solidFill>
              </a:rPr>
              <a:t>•  The region is experiencing long-term climate warming</a:t>
            </a:r>
          </a:p>
          <a:p>
            <a:pPr indent="0">
              <a:buNone/>
            </a:pPr>
            <a:r>
              <a:rPr lang="en-US" altLang="zh-CN" dirty="0">
                <a:solidFill>
                  <a:schemeClr val="bg1"/>
                </a:solidFill>
              </a:rPr>
              <a:t>•  Showing the potential influence of greenhouse effect (Manabe 2019).</a:t>
            </a:r>
          </a:p>
        </p:txBody>
      </p:sp>
      <p:sp>
        <p:nvSpPr>
          <p:cNvPr id="10" name="文本框 9"/>
          <p:cNvSpPr txBox="1"/>
          <p:nvPr/>
        </p:nvSpPr>
        <p:spPr>
          <a:xfrm>
            <a:off x="6150424" y="5924524"/>
            <a:ext cx="5037871" cy="82994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en-GB" altLang="zh-CN" sz="2400" b="1" dirty="0">
                <a:solidFill>
                  <a:srgbClr val="FFC000"/>
                </a:solidFill>
              </a:rPr>
              <a:t>Clear regional warming signal</a:t>
            </a:r>
            <a:r>
              <a:rPr lang="en-GB" altLang="zh-CN" sz="2400" dirty="0"/>
              <a:t>.</a:t>
            </a:r>
            <a:endParaRPr lang="zh-CN" altLang="en-US" sz="2400" dirty="0"/>
          </a:p>
        </p:txBody>
      </p:sp>
      <p:pic>
        <p:nvPicPr>
          <p:cNvPr id="12" name="图片 1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38911" y="1125194"/>
            <a:ext cx="7539321" cy="4680000"/>
          </a:xfrm>
          <a:prstGeom prst="rect">
            <a:avLst/>
          </a:prstGeom>
        </p:spPr>
      </p:pic>
      <p:cxnSp>
        <p:nvCxnSpPr>
          <p:cNvPr id="3" name="直接箭头连接符 2"/>
          <p:cNvCxnSpPr/>
          <p:nvPr userDrawn="1"/>
        </p:nvCxnSpPr>
        <p:spPr>
          <a:xfrm flipV="1">
            <a:off x="6406096" y="2328312"/>
            <a:ext cx="3827921" cy="1971579"/>
          </a:xfrm>
          <a:prstGeom prst="straightConnector1">
            <a:avLst/>
          </a:prstGeom>
          <a:ln w="57150">
            <a:solidFill>
              <a:srgbClr val="FFC000">
                <a:alpha val="100000"/>
              </a:srgb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/>
          <p:cNvSpPr txBox="1"/>
          <p:nvPr/>
        </p:nvSpPr>
        <p:spPr>
          <a:xfrm>
            <a:off x="245110" y="196850"/>
            <a:ext cx="1169289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altLang="zh-CN" sz="2800" b="1" dirty="0">
                <a:solidFill>
                  <a:srgbClr val="D4AF37"/>
                </a:solidFill>
              </a:rPr>
              <a:t>Trend Analysis——Temperature Trend &amp; Seasonal Distribution</a:t>
            </a:r>
          </a:p>
        </p:txBody>
      </p:sp>
      <p:sp>
        <p:nvSpPr>
          <p:cNvPr id="13" name="Rectangle 2"/>
          <p:cNvSpPr/>
          <p:nvPr/>
        </p:nvSpPr>
        <p:spPr>
          <a:xfrm>
            <a:off x="245110" y="718820"/>
            <a:ext cx="11661140" cy="762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矩形 28"/>
          <p:cNvSpPr/>
          <p:nvPr/>
        </p:nvSpPr>
        <p:spPr>
          <a:xfrm>
            <a:off x="300990" y="1651635"/>
            <a:ext cx="4237990" cy="3955776"/>
          </a:xfrm>
          <a:prstGeom prst="rect">
            <a:avLst/>
          </a:prstGeom>
          <a:noFill/>
          <a:ln w="1905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solidFill>
                <a:schemeClr val="tx1"/>
              </a:solidFill>
            </a:endParaRPr>
          </a:p>
        </p:txBody>
      </p:sp>
      <p:sp>
        <p:nvSpPr>
          <p:cNvPr id="6" name="矩形 5"/>
          <p:cNvSpPr/>
          <p:nvPr/>
        </p:nvSpPr>
        <p:spPr>
          <a:xfrm>
            <a:off x="301625" y="1005205"/>
            <a:ext cx="4248785" cy="60896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solidFill>
                <a:schemeClr val="tx1"/>
              </a:solidFill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300990" y="1087120"/>
            <a:ext cx="430022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>
                <a:solidFill>
                  <a:schemeClr val="bg1"/>
                </a:solidFill>
              </a:rPr>
              <a:t>Heatmap of Monthly Mean Temperature</a:t>
            </a:r>
          </a:p>
        </p:txBody>
      </p:sp>
      <p:sp>
        <p:nvSpPr>
          <p:cNvPr id="7" name="文本框 6"/>
          <p:cNvSpPr txBox="1"/>
          <p:nvPr/>
        </p:nvSpPr>
        <p:spPr>
          <a:xfrm>
            <a:off x="301018" y="1931534"/>
            <a:ext cx="4167505" cy="3395884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indent="0">
              <a:buFont typeface="Wingdings" panose="05000000000000000000" charset="0"/>
              <a:buNone/>
            </a:pPr>
            <a:r>
              <a:rPr lang="en-US" altLang="zh-CN" b="1" dirty="0">
                <a:solidFill>
                  <a:schemeClr val="bg1"/>
                </a:solidFill>
              </a:rPr>
              <a:t>Key findings:</a:t>
            </a:r>
          </a:p>
          <a:p>
            <a:pPr indent="0">
              <a:buFont typeface="Wingdings" panose="05000000000000000000" charset="0"/>
              <a:buNone/>
            </a:pPr>
            <a:r>
              <a:rPr lang="en-US" altLang="zh-CN" dirty="0">
                <a:solidFill>
                  <a:schemeClr val="bg1"/>
                </a:solidFill>
              </a:rPr>
              <a:t>•  In the mid-to-late 21st century, “deep red spots” (extreme high temperatures) frequently appear in summer.</a:t>
            </a:r>
          </a:p>
          <a:p>
            <a:pPr indent="0">
              <a:buFont typeface="Wingdings" panose="05000000000000000000" charset="0"/>
              <a:buNone/>
            </a:pPr>
            <a:r>
              <a:rPr lang="en-US" altLang="zh-CN" dirty="0">
                <a:solidFill>
                  <a:schemeClr val="bg1"/>
                </a:solidFill>
              </a:rPr>
              <a:t>•  The frequency and intensity increase over time</a:t>
            </a:r>
          </a:p>
          <a:p>
            <a:pPr indent="0">
              <a:buFont typeface="Wingdings" panose="05000000000000000000" charset="0"/>
              <a:buNone/>
            </a:pPr>
            <a:endParaRPr lang="en-US" altLang="zh-CN" dirty="0">
              <a:solidFill>
                <a:schemeClr val="bg1"/>
              </a:solidFill>
            </a:endParaRPr>
          </a:p>
          <a:p>
            <a:pPr indent="0">
              <a:buFont typeface="Wingdings" panose="05000000000000000000" charset="0"/>
              <a:buNone/>
            </a:pPr>
            <a:r>
              <a:rPr lang="en-US" altLang="zh-CN" b="1" dirty="0">
                <a:solidFill>
                  <a:schemeClr val="bg1"/>
                </a:solidFill>
              </a:rPr>
              <a:t>Physical significance:</a:t>
            </a:r>
          </a:p>
          <a:p>
            <a:pPr indent="0">
              <a:buFont typeface="Wingdings" panose="05000000000000000000" charset="0"/>
              <a:buNone/>
            </a:pPr>
            <a:r>
              <a:rPr lang="en-US" altLang="zh-CN" dirty="0">
                <a:solidFill>
                  <a:schemeClr val="bg1"/>
                </a:solidFill>
              </a:rPr>
              <a:t>•  Non-uniform global warming</a:t>
            </a:r>
          </a:p>
          <a:p>
            <a:pPr indent="0">
              <a:buFont typeface="Wingdings" panose="05000000000000000000" charset="0"/>
              <a:buNone/>
            </a:pPr>
            <a:r>
              <a:rPr lang="en-US" altLang="zh-CN" dirty="0">
                <a:solidFill>
                  <a:schemeClr val="bg1"/>
                </a:solidFill>
              </a:rPr>
              <a:t>•  Regional seasonal climate structures may potentially being reshaped (Qin, Xie et al. 2024).</a:t>
            </a:r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2"/>
          <a:srcRect b="1122"/>
          <a:stretch>
            <a:fillRect/>
          </a:stretch>
        </p:blipFill>
        <p:spPr>
          <a:xfrm>
            <a:off x="4804097" y="810000"/>
            <a:ext cx="7387903" cy="6048000"/>
          </a:xfrm>
          <a:prstGeom prst="rect">
            <a:avLst/>
          </a:prstGeom>
        </p:spPr>
      </p:pic>
      <p:cxnSp>
        <p:nvCxnSpPr>
          <p:cNvPr id="2" name="直接箭头连接符 1"/>
          <p:cNvCxnSpPr/>
          <p:nvPr userDrawn="1"/>
        </p:nvCxnSpPr>
        <p:spPr>
          <a:xfrm>
            <a:off x="9886506" y="1794052"/>
            <a:ext cx="0" cy="4202606"/>
          </a:xfrm>
          <a:prstGeom prst="straightConnector1">
            <a:avLst/>
          </a:prstGeom>
          <a:ln w="92075" cmpd="sng">
            <a:solidFill>
              <a:srgbClr val="FF0000">
                <a:alpha val="100000"/>
              </a:srgbClr>
            </a:solidFill>
            <a:prstDash val="sysDot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文本框 7"/>
          <p:cNvSpPr txBox="1"/>
          <p:nvPr/>
        </p:nvSpPr>
        <p:spPr>
          <a:xfrm>
            <a:off x="126602" y="3597443"/>
            <a:ext cx="1397398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 dirty="0"/>
          </a:p>
        </p:txBody>
      </p:sp>
      <p:sp>
        <p:nvSpPr>
          <p:cNvPr id="5" name="文本框 4"/>
          <p:cNvSpPr txBox="1"/>
          <p:nvPr/>
        </p:nvSpPr>
        <p:spPr>
          <a:xfrm>
            <a:off x="245110" y="196850"/>
            <a:ext cx="1169289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altLang="zh-CN" sz="2800" b="1" dirty="0">
                <a:solidFill>
                  <a:srgbClr val="D4AF37"/>
                </a:solidFill>
              </a:rPr>
              <a:t>Trend Analysis——</a:t>
            </a:r>
            <a:r>
              <a:rPr lang="en-US" altLang="zh-CN" sz="2800" b="1" dirty="0">
                <a:solidFill>
                  <a:srgbClr val="D4AF37"/>
                </a:solidFill>
              </a:rPr>
              <a:t>Precipitation Trend &amp; Seasonal Distribution</a:t>
            </a:r>
          </a:p>
        </p:txBody>
      </p:sp>
      <p:sp>
        <p:nvSpPr>
          <p:cNvPr id="13" name="Rectangle 2"/>
          <p:cNvSpPr/>
          <p:nvPr/>
        </p:nvSpPr>
        <p:spPr>
          <a:xfrm>
            <a:off x="245110" y="718820"/>
            <a:ext cx="11661140" cy="762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50410" y="882650"/>
            <a:ext cx="7539321" cy="4680000"/>
          </a:xfrm>
          <a:prstGeom prst="rect">
            <a:avLst/>
          </a:prstGeom>
        </p:spPr>
      </p:pic>
      <p:sp>
        <p:nvSpPr>
          <p:cNvPr id="29" name="矩形 28"/>
          <p:cNvSpPr/>
          <p:nvPr/>
        </p:nvSpPr>
        <p:spPr>
          <a:xfrm>
            <a:off x="300990" y="1651635"/>
            <a:ext cx="4237990" cy="2834005"/>
          </a:xfrm>
          <a:prstGeom prst="rect">
            <a:avLst/>
          </a:prstGeom>
          <a:noFill/>
          <a:ln w="1905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solidFill>
                <a:schemeClr val="tx1"/>
              </a:solidFill>
            </a:endParaRPr>
          </a:p>
        </p:txBody>
      </p:sp>
      <p:sp>
        <p:nvSpPr>
          <p:cNvPr id="6" name="矩形 5"/>
          <p:cNvSpPr/>
          <p:nvPr/>
        </p:nvSpPr>
        <p:spPr>
          <a:xfrm>
            <a:off x="301625" y="1005205"/>
            <a:ext cx="4248785" cy="60896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solidFill>
                <a:schemeClr val="tx1"/>
              </a:solidFill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701040" y="1125220"/>
            <a:ext cx="330073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>
                <a:solidFill>
                  <a:schemeClr val="bg1"/>
                </a:solidFill>
              </a:rPr>
              <a:t>Precipitation Trend Line Plot</a:t>
            </a:r>
          </a:p>
        </p:txBody>
      </p:sp>
      <p:sp>
        <p:nvSpPr>
          <p:cNvPr id="7" name="文本框 6"/>
          <p:cNvSpPr txBox="1"/>
          <p:nvPr/>
        </p:nvSpPr>
        <p:spPr>
          <a:xfrm>
            <a:off x="353695" y="1900555"/>
            <a:ext cx="4185285" cy="265112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indent="0">
              <a:buFont typeface="Wingdings" panose="05000000000000000000" charset="0"/>
              <a:buNone/>
            </a:pPr>
            <a:r>
              <a:rPr lang="en-US" altLang="zh-CN" b="1" dirty="0">
                <a:solidFill>
                  <a:schemeClr val="bg1"/>
                </a:solidFill>
              </a:rPr>
              <a:t>Key findings:</a:t>
            </a:r>
            <a:r>
              <a:rPr lang="en-US" altLang="zh-CN" dirty="0">
                <a:solidFill>
                  <a:schemeClr val="bg1"/>
                </a:solidFill>
              </a:rPr>
              <a:t> The line shows sharp, jagged oscillations, lacking a smooth, monotonous trend.</a:t>
            </a:r>
          </a:p>
          <a:p>
            <a:pPr indent="0">
              <a:buFont typeface="Wingdings" panose="05000000000000000000" charset="0"/>
              <a:buNone/>
            </a:pPr>
            <a:endParaRPr lang="en-US" altLang="zh-CN" dirty="0">
              <a:solidFill>
                <a:schemeClr val="bg1"/>
              </a:solidFill>
            </a:endParaRPr>
          </a:p>
          <a:p>
            <a:pPr indent="0">
              <a:buFont typeface="Wingdings" panose="05000000000000000000" charset="0"/>
              <a:buNone/>
            </a:pPr>
            <a:r>
              <a:rPr lang="en-US" altLang="zh-CN" b="1" dirty="0">
                <a:solidFill>
                  <a:schemeClr val="bg1"/>
                </a:solidFill>
              </a:rPr>
              <a:t>Physical significance:</a:t>
            </a:r>
            <a:r>
              <a:rPr lang="en-US" altLang="zh-CN" dirty="0">
                <a:solidFill>
                  <a:schemeClr val="bg1"/>
                </a:solidFill>
              </a:rPr>
              <a:t> This illustrates that precipitation systems exhibit extremely high interannual variability and inherent uncertainty.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文本框 7"/>
          <p:cNvSpPr txBox="1"/>
          <p:nvPr/>
        </p:nvSpPr>
        <p:spPr>
          <a:xfrm>
            <a:off x="126602" y="3597443"/>
            <a:ext cx="1397398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 dirty="0"/>
          </a:p>
        </p:txBody>
      </p:sp>
      <p:sp>
        <p:nvSpPr>
          <p:cNvPr id="5" name="文本框 4"/>
          <p:cNvSpPr txBox="1"/>
          <p:nvPr/>
        </p:nvSpPr>
        <p:spPr>
          <a:xfrm>
            <a:off x="245110" y="196850"/>
            <a:ext cx="1169289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altLang="zh-CN" sz="2800" b="1" dirty="0">
                <a:solidFill>
                  <a:srgbClr val="D4AF37"/>
                </a:solidFill>
              </a:rPr>
              <a:t>Trend Analysis——</a:t>
            </a:r>
            <a:r>
              <a:rPr lang="en-US" altLang="zh-CN" sz="2800" b="1" dirty="0">
                <a:solidFill>
                  <a:srgbClr val="D4AF37"/>
                </a:solidFill>
              </a:rPr>
              <a:t>Precipitation Trend &amp; Seasonal Distribution</a:t>
            </a:r>
          </a:p>
        </p:txBody>
      </p:sp>
      <p:sp>
        <p:nvSpPr>
          <p:cNvPr id="13" name="Rectangle 2"/>
          <p:cNvSpPr/>
          <p:nvPr/>
        </p:nvSpPr>
        <p:spPr>
          <a:xfrm>
            <a:off x="245110" y="718820"/>
            <a:ext cx="11661140" cy="762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矩形 28"/>
          <p:cNvSpPr/>
          <p:nvPr/>
        </p:nvSpPr>
        <p:spPr>
          <a:xfrm>
            <a:off x="300990" y="1651635"/>
            <a:ext cx="4237990" cy="4067175"/>
          </a:xfrm>
          <a:prstGeom prst="rect">
            <a:avLst/>
          </a:prstGeom>
          <a:noFill/>
          <a:ln w="1905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solidFill>
                <a:schemeClr val="tx1"/>
              </a:solidFill>
            </a:endParaRPr>
          </a:p>
        </p:txBody>
      </p:sp>
      <p:sp>
        <p:nvSpPr>
          <p:cNvPr id="6" name="矩形 5"/>
          <p:cNvSpPr/>
          <p:nvPr/>
        </p:nvSpPr>
        <p:spPr>
          <a:xfrm>
            <a:off x="301625" y="1005205"/>
            <a:ext cx="4248785" cy="60896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solidFill>
                <a:schemeClr val="tx1"/>
              </a:solidFill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300990" y="1087120"/>
            <a:ext cx="423735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>
                <a:solidFill>
                  <a:schemeClr val="bg1"/>
                </a:solidFill>
                <a:sym typeface="+mn-ea"/>
              </a:rPr>
              <a:t>Heatmap of Monthly Total Precipitation</a:t>
            </a:r>
            <a:endParaRPr lang="en-US" altLang="zh-CN">
              <a:solidFill>
                <a:schemeClr val="bg1"/>
              </a:solidFill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363855" y="1900555"/>
            <a:ext cx="4138930" cy="347726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indent="0">
              <a:buFont typeface="Wingdings" panose="05000000000000000000" charset="0"/>
              <a:buNone/>
            </a:pPr>
            <a:r>
              <a:rPr lang="en-US" altLang="zh-CN" b="1" dirty="0">
                <a:solidFill>
                  <a:schemeClr val="bg1"/>
                </a:solidFill>
              </a:rPr>
              <a:t>Key findings:</a:t>
            </a:r>
            <a:r>
              <a:rPr lang="en-US" altLang="zh-CN" dirty="0">
                <a:solidFill>
                  <a:schemeClr val="bg1"/>
                </a:solidFill>
              </a:rPr>
              <a:t> Clearly outlines the local precipitation pattern of "more rain in autumn and winter, and relatively less rain in spring and summer".</a:t>
            </a:r>
          </a:p>
          <a:p>
            <a:pPr indent="0">
              <a:buFont typeface="Wingdings" panose="05000000000000000000" charset="0"/>
              <a:buNone/>
            </a:pPr>
            <a:endParaRPr lang="en-US" altLang="zh-CN" dirty="0">
              <a:solidFill>
                <a:schemeClr val="bg1"/>
              </a:solidFill>
            </a:endParaRPr>
          </a:p>
          <a:p>
            <a:pPr indent="0">
              <a:buFont typeface="Wingdings" panose="05000000000000000000" charset="0"/>
              <a:buNone/>
            </a:pPr>
            <a:r>
              <a:rPr lang="en-US" altLang="zh-CN" b="1" dirty="0">
                <a:solidFill>
                  <a:schemeClr val="bg1"/>
                </a:solidFill>
              </a:rPr>
              <a:t>Physical significance:</a:t>
            </a:r>
            <a:r>
              <a:rPr lang="en-US" altLang="zh-CN" dirty="0">
                <a:solidFill>
                  <a:schemeClr val="bg1"/>
                </a:solidFill>
              </a:rPr>
              <a:t> As shown in the temperature thermogram, the combination of "extreme high temperatures in summer" and "relatively low precipitation" will significantly increase the risk of seasonal drought in the region.</a:t>
            </a:r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7290" y="795020"/>
            <a:ext cx="7204710" cy="604964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文本框 7"/>
          <p:cNvSpPr txBox="1"/>
          <p:nvPr/>
        </p:nvSpPr>
        <p:spPr>
          <a:xfrm>
            <a:off x="126602" y="3597443"/>
            <a:ext cx="1397398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 dirty="0"/>
          </a:p>
        </p:txBody>
      </p:sp>
      <p:sp>
        <p:nvSpPr>
          <p:cNvPr id="5" name="文本框 4"/>
          <p:cNvSpPr txBox="1"/>
          <p:nvPr/>
        </p:nvSpPr>
        <p:spPr>
          <a:xfrm>
            <a:off x="245110" y="196850"/>
            <a:ext cx="1169289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altLang="zh-CN" sz="2800" b="1" dirty="0">
                <a:solidFill>
                  <a:srgbClr val="D4AF37"/>
                </a:solidFill>
              </a:rPr>
              <a:t>Trend Analysis——</a:t>
            </a:r>
            <a:r>
              <a:rPr lang="en-US" altLang="zh-CN" sz="2800" b="1" dirty="0">
                <a:solidFill>
                  <a:srgbClr val="D4AF37"/>
                </a:solidFill>
              </a:rPr>
              <a:t>Surface Net Shortwave Radiation Trend (FSNS)</a:t>
            </a:r>
          </a:p>
        </p:txBody>
      </p:sp>
      <p:sp>
        <p:nvSpPr>
          <p:cNvPr id="13" name="Rectangle 2"/>
          <p:cNvSpPr/>
          <p:nvPr/>
        </p:nvSpPr>
        <p:spPr>
          <a:xfrm>
            <a:off x="245110" y="718820"/>
            <a:ext cx="11661140" cy="762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矩形 28"/>
          <p:cNvSpPr/>
          <p:nvPr/>
        </p:nvSpPr>
        <p:spPr>
          <a:xfrm>
            <a:off x="300990" y="1651635"/>
            <a:ext cx="4237990" cy="3806825"/>
          </a:xfrm>
          <a:prstGeom prst="rect">
            <a:avLst/>
          </a:prstGeom>
          <a:noFill/>
          <a:ln w="1905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solidFill>
                <a:schemeClr val="tx1"/>
              </a:solidFill>
            </a:endParaRPr>
          </a:p>
        </p:txBody>
      </p:sp>
      <p:sp>
        <p:nvSpPr>
          <p:cNvPr id="6" name="矩形 5"/>
          <p:cNvSpPr/>
          <p:nvPr/>
        </p:nvSpPr>
        <p:spPr>
          <a:xfrm>
            <a:off x="301625" y="1005205"/>
            <a:ext cx="4248785" cy="60896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solidFill>
                <a:schemeClr val="tx1"/>
              </a:solidFill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701040" y="1125220"/>
            <a:ext cx="330073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>
                <a:solidFill>
                  <a:schemeClr val="bg1"/>
                </a:solidFill>
              </a:rPr>
              <a:t>Radiation Trend Line Plot</a:t>
            </a:r>
          </a:p>
        </p:txBody>
      </p:sp>
      <p:sp>
        <p:nvSpPr>
          <p:cNvPr id="7" name="文本框 6"/>
          <p:cNvSpPr txBox="1"/>
          <p:nvPr/>
        </p:nvSpPr>
        <p:spPr>
          <a:xfrm>
            <a:off x="344805" y="1823720"/>
            <a:ext cx="4205605" cy="347726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indent="0">
              <a:buFont typeface="Wingdings" panose="05000000000000000000" charset="0"/>
              <a:buNone/>
            </a:pPr>
            <a:r>
              <a:rPr lang="en-US" altLang="zh-CN" b="1" dirty="0">
                <a:solidFill>
                  <a:schemeClr val="bg1"/>
                </a:solidFill>
              </a:rPr>
              <a:t>Key findings:</a:t>
            </a:r>
            <a:r>
              <a:rPr lang="en-US" altLang="zh-CN" dirty="0">
                <a:solidFill>
                  <a:schemeClr val="bg1"/>
                </a:solidFill>
              </a:rPr>
              <a:t> Tracked the changing trajectory of solar energy as it penetrates the atmosphere to reach the Earth's surface.</a:t>
            </a:r>
          </a:p>
          <a:p>
            <a:pPr indent="0">
              <a:buFont typeface="Wingdings" panose="05000000000000000000" charset="0"/>
              <a:buNone/>
            </a:pPr>
            <a:endParaRPr lang="en-US" altLang="zh-CN" dirty="0">
              <a:solidFill>
                <a:schemeClr val="bg1"/>
              </a:solidFill>
            </a:endParaRPr>
          </a:p>
          <a:p>
            <a:pPr indent="0">
              <a:buFont typeface="Wingdings" panose="05000000000000000000" charset="0"/>
              <a:buNone/>
            </a:pPr>
            <a:r>
              <a:rPr lang="en-US" altLang="zh-CN" b="1" dirty="0">
                <a:solidFill>
                  <a:schemeClr val="bg1"/>
                </a:solidFill>
              </a:rPr>
              <a:t>Physical significance:</a:t>
            </a:r>
            <a:r>
              <a:rPr lang="en-US" altLang="zh-CN" dirty="0">
                <a:solidFill>
                  <a:schemeClr val="bg1"/>
                </a:solidFill>
              </a:rPr>
              <a:t> Fluctuations in radiation are directly affected by local cloud cover and atmospheric transparency, serving as the direct "fuel" and energy source driving abnormal fluctuations in surface temperature.</a:t>
            </a:r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2645" y="911860"/>
            <a:ext cx="7539321" cy="4680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文本框 7"/>
          <p:cNvSpPr txBox="1"/>
          <p:nvPr/>
        </p:nvSpPr>
        <p:spPr>
          <a:xfrm>
            <a:off x="126602" y="3597443"/>
            <a:ext cx="1397398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 dirty="0"/>
          </a:p>
        </p:txBody>
      </p:sp>
      <p:sp>
        <p:nvSpPr>
          <p:cNvPr id="5" name="文本框 4"/>
          <p:cNvSpPr txBox="1"/>
          <p:nvPr/>
        </p:nvSpPr>
        <p:spPr>
          <a:xfrm>
            <a:off x="245110" y="196850"/>
            <a:ext cx="1169289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>
                <a:solidFill>
                  <a:srgbClr val="D4AF37"/>
                </a:solidFill>
              </a:rPr>
              <a:t>Correlation Analysis</a:t>
            </a:r>
            <a:r>
              <a:rPr lang="en-GB" altLang="zh-CN" sz="2800" b="1" dirty="0">
                <a:solidFill>
                  <a:srgbClr val="D4AF37"/>
                </a:solidFill>
              </a:rPr>
              <a:t>——</a:t>
            </a:r>
            <a:r>
              <a:rPr lang="en-US" altLang="zh-CN" sz="2800" b="1" dirty="0">
                <a:solidFill>
                  <a:srgbClr val="D4AF37"/>
                </a:solidFill>
              </a:rPr>
              <a:t>Correlation Matrix</a:t>
            </a:r>
          </a:p>
        </p:txBody>
      </p:sp>
      <p:sp>
        <p:nvSpPr>
          <p:cNvPr id="13" name="Rectangle 2"/>
          <p:cNvSpPr/>
          <p:nvPr/>
        </p:nvSpPr>
        <p:spPr>
          <a:xfrm>
            <a:off x="245110" y="718820"/>
            <a:ext cx="11661140" cy="762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矩形 28"/>
          <p:cNvSpPr/>
          <p:nvPr/>
        </p:nvSpPr>
        <p:spPr>
          <a:xfrm>
            <a:off x="300990" y="1651635"/>
            <a:ext cx="4237990" cy="4092575"/>
          </a:xfrm>
          <a:prstGeom prst="rect">
            <a:avLst/>
          </a:prstGeom>
          <a:noFill/>
          <a:ln w="1905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solidFill>
                <a:schemeClr val="tx1"/>
              </a:solidFill>
            </a:endParaRPr>
          </a:p>
        </p:txBody>
      </p:sp>
      <p:sp>
        <p:nvSpPr>
          <p:cNvPr id="6" name="矩形 5"/>
          <p:cNvSpPr/>
          <p:nvPr/>
        </p:nvSpPr>
        <p:spPr>
          <a:xfrm>
            <a:off x="301625" y="1005205"/>
            <a:ext cx="4248785" cy="60896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solidFill>
                <a:schemeClr val="tx1"/>
              </a:solidFill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1162050" y="1125220"/>
            <a:ext cx="26098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solidFill>
                  <a:schemeClr val="bg1"/>
                </a:solidFill>
              </a:rPr>
              <a:t>Correlation Matrix</a:t>
            </a:r>
          </a:p>
        </p:txBody>
      </p:sp>
      <p:sp>
        <p:nvSpPr>
          <p:cNvPr id="7" name="文本框 6"/>
          <p:cNvSpPr txBox="1"/>
          <p:nvPr/>
        </p:nvSpPr>
        <p:spPr>
          <a:xfrm>
            <a:off x="301625" y="3013010"/>
            <a:ext cx="4205605" cy="228860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indent="0">
              <a:buFont typeface="Wingdings" panose="05000000000000000000" charset="0"/>
              <a:buNone/>
            </a:pPr>
            <a:r>
              <a:rPr lang="en-US" altLang="zh-CN" b="1" dirty="0">
                <a:solidFill>
                  <a:schemeClr val="bg1"/>
                </a:solidFill>
              </a:rPr>
              <a:t>Key findings:</a:t>
            </a:r>
            <a:r>
              <a:rPr lang="en-US" altLang="zh-CN" dirty="0">
                <a:solidFill>
                  <a:schemeClr val="bg1"/>
                </a:solidFill>
              </a:rPr>
              <a:t> Surface temperature (TREFHT) shows a strong positive correlation with shortwave radiation (FSNS) and bottom specific moisture (QBOT) (deep red block).</a:t>
            </a:r>
          </a:p>
        </p:txBody>
      </p:sp>
      <p:pic>
        <p:nvPicPr>
          <p:cNvPr id="9" name="Picture 3" descr="5822fec2-22ff-476e-ac55-ef70d265a1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37889" y="901065"/>
            <a:ext cx="6867975" cy="5760000"/>
          </a:xfrm>
          <a:prstGeom prst="rect">
            <a:avLst/>
          </a:prstGeom>
        </p:spPr>
      </p:pic>
      <p:sp>
        <p:nvSpPr>
          <p:cNvPr id="331" name="椭圆 330"/>
          <p:cNvSpPr/>
          <p:nvPr/>
        </p:nvSpPr>
        <p:spPr>
          <a:xfrm rot="19200717">
            <a:off x="5903595" y="1873885"/>
            <a:ext cx="930275" cy="654685"/>
          </a:xfrm>
          <a:prstGeom prst="ellipse">
            <a:avLst/>
          </a:prstGeom>
          <a:noFill/>
          <a:ln w="34925">
            <a:solidFill>
              <a:schemeClr val="tx2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>
              <a:latin typeface="等线" panose="02010600030101010101" pitchFamily="2" charset="-122"/>
            </a:endParaRPr>
          </a:p>
        </p:txBody>
      </p:sp>
      <p:sp>
        <p:nvSpPr>
          <p:cNvPr id="14" name="椭圆 13"/>
          <p:cNvSpPr/>
          <p:nvPr/>
        </p:nvSpPr>
        <p:spPr>
          <a:xfrm rot="19200717">
            <a:off x="5903595" y="3235325"/>
            <a:ext cx="930275" cy="654685"/>
          </a:xfrm>
          <a:prstGeom prst="ellipse">
            <a:avLst/>
          </a:prstGeom>
          <a:noFill/>
          <a:ln w="34925">
            <a:solidFill>
              <a:schemeClr val="tx2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b="1" dirty="0">
              <a:latin typeface="等线" panose="02010600030101010101" pitchFamily="2" charset="-122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文本框 7"/>
          <p:cNvSpPr txBox="1"/>
          <p:nvPr/>
        </p:nvSpPr>
        <p:spPr>
          <a:xfrm>
            <a:off x="126602" y="3597443"/>
            <a:ext cx="1397398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 dirty="0"/>
          </a:p>
        </p:txBody>
      </p:sp>
      <p:sp>
        <p:nvSpPr>
          <p:cNvPr id="5" name="文本框 4"/>
          <p:cNvSpPr txBox="1"/>
          <p:nvPr/>
        </p:nvSpPr>
        <p:spPr>
          <a:xfrm>
            <a:off x="245110" y="196850"/>
            <a:ext cx="1169289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>
                <a:solidFill>
                  <a:srgbClr val="D4AF37"/>
                </a:solidFill>
              </a:rPr>
              <a:t>Relationship Analysis</a:t>
            </a:r>
            <a:r>
              <a:rPr lang="en-GB" altLang="zh-CN" sz="2800" b="1" dirty="0">
                <a:solidFill>
                  <a:srgbClr val="D4AF37"/>
                </a:solidFill>
              </a:rPr>
              <a:t>——</a:t>
            </a:r>
            <a:r>
              <a:rPr lang="en-US" altLang="zh-CN" sz="2800" b="1" dirty="0">
                <a:solidFill>
                  <a:srgbClr val="D4AF37"/>
                </a:solidFill>
              </a:rPr>
              <a:t>Temperature–Radiation Relationship</a:t>
            </a:r>
          </a:p>
        </p:txBody>
      </p:sp>
      <p:sp>
        <p:nvSpPr>
          <p:cNvPr id="13" name="Rectangle 2"/>
          <p:cNvSpPr/>
          <p:nvPr/>
        </p:nvSpPr>
        <p:spPr>
          <a:xfrm>
            <a:off x="245110" y="718820"/>
            <a:ext cx="11661140" cy="762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矩形 28"/>
          <p:cNvSpPr/>
          <p:nvPr/>
        </p:nvSpPr>
        <p:spPr>
          <a:xfrm>
            <a:off x="300990" y="1651635"/>
            <a:ext cx="4237990" cy="3669665"/>
          </a:xfrm>
          <a:prstGeom prst="rect">
            <a:avLst/>
          </a:prstGeom>
          <a:noFill/>
          <a:ln w="1905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solidFill>
                <a:schemeClr val="tx1"/>
              </a:solidFill>
            </a:endParaRPr>
          </a:p>
        </p:txBody>
      </p:sp>
      <p:sp>
        <p:nvSpPr>
          <p:cNvPr id="6" name="矩形 5"/>
          <p:cNvSpPr/>
          <p:nvPr/>
        </p:nvSpPr>
        <p:spPr>
          <a:xfrm>
            <a:off x="301625" y="1005205"/>
            <a:ext cx="4248785" cy="60896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solidFill>
                <a:schemeClr val="tx1"/>
              </a:solidFill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301068" y="1005218"/>
            <a:ext cx="423799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>
                <a:solidFill>
                  <a:schemeClr val="bg1"/>
                </a:solidFill>
              </a:rPr>
              <a:t>Scatter Regression Plot of Temperature vs. Radiation</a:t>
            </a:r>
          </a:p>
        </p:txBody>
      </p:sp>
      <p:sp>
        <p:nvSpPr>
          <p:cNvPr id="7" name="文本框 6"/>
          <p:cNvSpPr txBox="1"/>
          <p:nvPr/>
        </p:nvSpPr>
        <p:spPr>
          <a:xfrm>
            <a:off x="301625" y="2259784"/>
            <a:ext cx="4205605" cy="3041831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indent="0">
              <a:buFont typeface="Wingdings" panose="05000000000000000000" charset="0"/>
              <a:buNone/>
            </a:pPr>
            <a:r>
              <a:rPr lang="en-US" altLang="zh-CN" b="1" dirty="0">
                <a:solidFill>
                  <a:schemeClr val="bg1"/>
                </a:solidFill>
              </a:rPr>
              <a:t>Key findings:</a:t>
            </a:r>
            <a:r>
              <a:rPr lang="en-US" altLang="zh-CN" dirty="0">
                <a:solidFill>
                  <a:schemeClr val="bg1"/>
                </a:solidFill>
              </a:rPr>
              <a:t> Net shortwave radiation reaching the Earth's surface shows a clear positive linear fit with surface temperature.</a:t>
            </a:r>
          </a:p>
          <a:p>
            <a:pPr indent="0">
              <a:buFont typeface="Wingdings" panose="05000000000000000000" charset="0"/>
              <a:buNone/>
            </a:pPr>
            <a:endParaRPr lang="en-US" altLang="zh-CN" dirty="0">
              <a:solidFill>
                <a:schemeClr val="bg1"/>
              </a:solidFill>
            </a:endParaRPr>
          </a:p>
          <a:p>
            <a:pPr indent="0">
              <a:buFont typeface="Wingdings" panose="05000000000000000000" charset="0"/>
              <a:buNone/>
            </a:pPr>
            <a:endParaRPr lang="en-US" altLang="zh-CN" dirty="0">
              <a:solidFill>
                <a:schemeClr val="bg1"/>
              </a:solidFill>
            </a:endParaRPr>
          </a:p>
          <a:p>
            <a:pPr indent="0">
              <a:buFont typeface="Wingdings" panose="05000000000000000000" charset="0"/>
              <a:buNone/>
            </a:pPr>
            <a:r>
              <a:rPr lang="en-US" altLang="zh-CN" dirty="0">
                <a:solidFill>
                  <a:schemeClr val="bg1"/>
                </a:solidFill>
              </a:rPr>
              <a:t>Less cloud → More sunshine → Ground warms up</a:t>
            </a:r>
          </a:p>
          <a:p>
            <a:pPr indent="0">
              <a:buFont typeface="Wingdings" panose="05000000000000000000" charset="0"/>
              <a:buNone/>
            </a:pPr>
            <a:endParaRPr lang="en-US" altLang="zh-CN" dirty="0">
              <a:solidFill>
                <a:schemeClr val="bg1"/>
              </a:solidFill>
            </a:endParaRPr>
          </a:p>
          <a:p>
            <a:pPr indent="0">
              <a:buFont typeface="Wingdings" panose="05000000000000000000" charset="0"/>
              <a:buNone/>
            </a:pPr>
            <a:endParaRPr lang="en-US" altLang="zh-CN" dirty="0">
              <a:solidFill>
                <a:schemeClr val="bg1"/>
              </a:solidFill>
            </a:endParaRPr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50410" y="981710"/>
            <a:ext cx="7539321" cy="4680000"/>
          </a:xfrm>
          <a:prstGeom prst="rect">
            <a:avLst/>
          </a:prstGeom>
        </p:spPr>
      </p:pic>
      <p:sp>
        <p:nvSpPr>
          <p:cNvPr id="10" name="文本框 9"/>
          <p:cNvSpPr txBox="1"/>
          <p:nvPr/>
        </p:nvSpPr>
        <p:spPr>
          <a:xfrm>
            <a:off x="1336040" y="5733415"/>
            <a:ext cx="9519920" cy="3987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altLang="zh-CN" sz="2000" dirty="0">
                <a:solidFill>
                  <a:srgbClr val="FFC000"/>
                </a:solidFill>
              </a:rPr>
              <a:t>The chart reveals the first physical driver of global warming: radiative forcing.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文本框 7"/>
          <p:cNvSpPr txBox="1"/>
          <p:nvPr/>
        </p:nvSpPr>
        <p:spPr>
          <a:xfrm>
            <a:off x="126602" y="3597443"/>
            <a:ext cx="1397398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 dirty="0"/>
          </a:p>
        </p:txBody>
      </p:sp>
      <p:sp>
        <p:nvSpPr>
          <p:cNvPr id="5" name="文本框 4"/>
          <p:cNvSpPr txBox="1"/>
          <p:nvPr/>
        </p:nvSpPr>
        <p:spPr>
          <a:xfrm>
            <a:off x="245110" y="196850"/>
            <a:ext cx="1169289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>
                <a:solidFill>
                  <a:srgbClr val="D4AF37"/>
                </a:solidFill>
              </a:rPr>
              <a:t>Relationship Analysis</a:t>
            </a:r>
            <a:r>
              <a:rPr lang="en-GB" altLang="zh-CN" sz="2800" b="1" dirty="0">
                <a:solidFill>
                  <a:srgbClr val="D4AF37"/>
                </a:solidFill>
              </a:rPr>
              <a:t>——</a:t>
            </a:r>
            <a:r>
              <a:rPr lang="en-US" altLang="zh-CN" sz="2800" b="1" dirty="0">
                <a:solidFill>
                  <a:srgbClr val="D4AF37"/>
                </a:solidFill>
              </a:rPr>
              <a:t>Temperature–QBOT Relationship</a:t>
            </a:r>
          </a:p>
        </p:txBody>
      </p:sp>
      <p:sp>
        <p:nvSpPr>
          <p:cNvPr id="13" name="Rectangle 2"/>
          <p:cNvSpPr/>
          <p:nvPr/>
        </p:nvSpPr>
        <p:spPr>
          <a:xfrm>
            <a:off x="245110" y="718820"/>
            <a:ext cx="11661140" cy="762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矩形 28"/>
          <p:cNvSpPr/>
          <p:nvPr/>
        </p:nvSpPr>
        <p:spPr>
          <a:xfrm>
            <a:off x="300990" y="1651635"/>
            <a:ext cx="4237990" cy="3806307"/>
          </a:xfrm>
          <a:prstGeom prst="rect">
            <a:avLst/>
          </a:prstGeom>
          <a:noFill/>
          <a:ln w="1905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solidFill>
                <a:schemeClr val="tx1"/>
              </a:solidFill>
            </a:endParaRPr>
          </a:p>
        </p:txBody>
      </p:sp>
      <p:sp>
        <p:nvSpPr>
          <p:cNvPr id="6" name="矩形 5"/>
          <p:cNvSpPr/>
          <p:nvPr/>
        </p:nvSpPr>
        <p:spPr>
          <a:xfrm>
            <a:off x="301625" y="1005205"/>
            <a:ext cx="4248785" cy="60896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solidFill>
                <a:schemeClr val="tx1"/>
              </a:solidFill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300990" y="986790"/>
            <a:ext cx="423799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>
                <a:solidFill>
                  <a:schemeClr val="bg1"/>
                </a:solidFill>
              </a:rPr>
              <a:t>Scatter Regression Plot of Temperature vs. Specific Humidity (QBOT)</a:t>
            </a:r>
          </a:p>
        </p:txBody>
      </p:sp>
      <p:sp>
        <p:nvSpPr>
          <p:cNvPr id="7" name="文本框 6"/>
          <p:cNvSpPr txBox="1"/>
          <p:nvPr/>
        </p:nvSpPr>
        <p:spPr>
          <a:xfrm>
            <a:off x="333375" y="2245153"/>
            <a:ext cx="4205605" cy="2979627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indent="0">
              <a:buFont typeface="Wingdings" panose="05000000000000000000" charset="0"/>
              <a:buNone/>
            </a:pPr>
            <a:r>
              <a:rPr lang="en-US" altLang="zh-CN" b="1" dirty="0">
                <a:solidFill>
                  <a:schemeClr val="bg1"/>
                </a:solidFill>
              </a:rPr>
              <a:t>Key finding:</a:t>
            </a:r>
            <a:r>
              <a:rPr lang="en-US" altLang="zh-CN" dirty="0">
                <a:solidFill>
                  <a:schemeClr val="bg1"/>
                </a:solidFill>
              </a:rPr>
              <a:t> The actual water content (specific humidity) of the atmosphere shows a very close, synchronous increase with rising temperature.</a:t>
            </a:r>
          </a:p>
          <a:p>
            <a:pPr indent="0">
              <a:buFont typeface="Wingdings" panose="05000000000000000000" charset="0"/>
              <a:buNone/>
            </a:pPr>
            <a:endParaRPr lang="en-US" altLang="zh-CN" dirty="0">
              <a:solidFill>
                <a:schemeClr val="bg1"/>
              </a:solidFill>
            </a:endParaRPr>
          </a:p>
          <a:p>
            <a:pPr indent="0">
              <a:buFont typeface="Wingdings" panose="05000000000000000000" charset="0"/>
              <a:buNone/>
            </a:pPr>
            <a:r>
              <a:rPr lang="en-US" altLang="zh-CN" b="1" dirty="0">
                <a:solidFill>
                  <a:schemeClr val="bg1"/>
                </a:solidFill>
              </a:rPr>
              <a:t>Warming → increased water vapor → stronger warming.</a:t>
            </a:r>
            <a:endParaRPr lang="en-US" altLang="zh-CN" dirty="0">
              <a:solidFill>
                <a:schemeClr val="bg1"/>
              </a:solidFill>
            </a:endParaRPr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2078" y="1089000"/>
            <a:ext cx="7529922" cy="4680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/>
          <p:cNvSpPr txBox="1"/>
          <p:nvPr/>
        </p:nvSpPr>
        <p:spPr>
          <a:xfrm>
            <a:off x="3322955" y="196850"/>
            <a:ext cx="5506085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>
                <a:solidFill>
                  <a:srgbClr val="D4AF37"/>
                </a:solidFill>
              </a:rPr>
              <a:t>Conclusions and Key Findings</a:t>
            </a:r>
          </a:p>
        </p:txBody>
      </p:sp>
      <p:sp>
        <p:nvSpPr>
          <p:cNvPr id="13" name="Rectangle 2"/>
          <p:cNvSpPr/>
          <p:nvPr/>
        </p:nvSpPr>
        <p:spPr>
          <a:xfrm>
            <a:off x="245110" y="718820"/>
            <a:ext cx="11661140" cy="762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矩形 1"/>
          <p:cNvSpPr/>
          <p:nvPr>
            <p:custDataLst>
              <p:tags r:id="rId1"/>
            </p:custDataLst>
          </p:nvPr>
        </p:nvSpPr>
        <p:spPr>
          <a:xfrm>
            <a:off x="4301490" y="1242695"/>
            <a:ext cx="7604125" cy="1075055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solidFill>
                <a:schemeClr val="tx1"/>
              </a:solidFill>
            </a:endParaRPr>
          </a:p>
        </p:txBody>
      </p:sp>
      <p:sp>
        <p:nvSpPr>
          <p:cNvPr id="9" name="矩形 8"/>
          <p:cNvSpPr/>
          <p:nvPr>
            <p:custDataLst>
              <p:tags r:id="rId2"/>
            </p:custDataLst>
          </p:nvPr>
        </p:nvSpPr>
        <p:spPr>
          <a:xfrm>
            <a:off x="449580" y="1242695"/>
            <a:ext cx="3672840" cy="1075055"/>
          </a:xfrm>
          <a:prstGeom prst="rect">
            <a:avLst/>
          </a:prstGeom>
          <a:noFill/>
          <a:ln w="22225"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b="1" dirty="0">
                <a:solidFill>
                  <a:schemeClr val="bg1"/>
                </a:solidFill>
              </a:rPr>
              <a:t>Evolution of the phenomenon: Warming and hydrological extremes</a:t>
            </a:r>
          </a:p>
        </p:txBody>
      </p:sp>
      <p:sp>
        <p:nvSpPr>
          <p:cNvPr id="206" name="椭圆 205"/>
          <p:cNvSpPr/>
          <p:nvPr>
            <p:custDataLst>
              <p:tags r:id="rId3"/>
            </p:custDataLst>
          </p:nvPr>
        </p:nvSpPr>
        <p:spPr>
          <a:xfrm>
            <a:off x="307857" y="1082874"/>
            <a:ext cx="352926" cy="352926"/>
          </a:xfrm>
          <a:prstGeom prst="ellipse">
            <a:avLst/>
          </a:prstGeom>
          <a:solidFill>
            <a:schemeClr val="accent2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chemeClr val="bg1"/>
                </a:solidFill>
              </a:rPr>
              <a:t>A</a:t>
            </a:r>
            <a:endParaRPr kumimoji="1" lang="zh-CN" altLang="en-US" dirty="0">
              <a:solidFill>
                <a:schemeClr val="bg1"/>
              </a:solidFill>
            </a:endParaRPr>
          </a:p>
        </p:txBody>
      </p:sp>
      <p:sp>
        <p:nvSpPr>
          <p:cNvPr id="11" name="文本框 10"/>
          <p:cNvSpPr txBox="1"/>
          <p:nvPr>
            <p:custDataLst>
              <p:tags r:id="rId4"/>
            </p:custDataLst>
          </p:nvPr>
        </p:nvSpPr>
        <p:spPr>
          <a:xfrm>
            <a:off x="4339448" y="1318895"/>
            <a:ext cx="7406640" cy="9220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Summer mean temperatures show a significant upward trend, while precipitation does not exhibit a statistically significant long-term change but displays notable interannual variability.</a:t>
            </a:r>
          </a:p>
        </p:txBody>
      </p:sp>
      <p:sp>
        <p:nvSpPr>
          <p:cNvPr id="12" name="矩形 11"/>
          <p:cNvSpPr/>
          <p:nvPr>
            <p:custDataLst>
              <p:tags r:id="rId5"/>
            </p:custDataLst>
          </p:nvPr>
        </p:nvSpPr>
        <p:spPr>
          <a:xfrm>
            <a:off x="4280018" y="2523621"/>
            <a:ext cx="7604125" cy="1075055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solidFill>
                <a:schemeClr val="tx1"/>
              </a:solidFill>
            </a:endParaRPr>
          </a:p>
        </p:txBody>
      </p:sp>
      <p:sp>
        <p:nvSpPr>
          <p:cNvPr id="14" name="矩形 13"/>
          <p:cNvSpPr/>
          <p:nvPr>
            <p:custDataLst>
              <p:tags r:id="rId6"/>
            </p:custDataLst>
          </p:nvPr>
        </p:nvSpPr>
        <p:spPr>
          <a:xfrm>
            <a:off x="449580" y="2538095"/>
            <a:ext cx="3672840" cy="1075055"/>
          </a:xfrm>
          <a:prstGeom prst="rect">
            <a:avLst/>
          </a:prstGeom>
          <a:noFill/>
          <a:ln w="22225"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b="1" dirty="0">
                <a:solidFill>
                  <a:schemeClr val="bg1"/>
                </a:solidFill>
              </a:rPr>
              <a:t>Core Driver: Radiative Forcing</a:t>
            </a:r>
          </a:p>
        </p:txBody>
      </p:sp>
      <p:sp>
        <p:nvSpPr>
          <p:cNvPr id="15" name="椭圆 14"/>
          <p:cNvSpPr/>
          <p:nvPr>
            <p:custDataLst>
              <p:tags r:id="rId7"/>
            </p:custDataLst>
          </p:nvPr>
        </p:nvSpPr>
        <p:spPr>
          <a:xfrm>
            <a:off x="307857" y="2378274"/>
            <a:ext cx="352926" cy="352926"/>
          </a:xfrm>
          <a:prstGeom prst="ellipse">
            <a:avLst/>
          </a:prstGeom>
          <a:solidFill>
            <a:schemeClr val="accent2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16" name="文本框 15"/>
          <p:cNvSpPr txBox="1"/>
          <p:nvPr>
            <p:custDataLst>
              <p:tags r:id="rId8"/>
            </p:custDataLst>
          </p:nvPr>
        </p:nvSpPr>
        <p:spPr>
          <a:xfrm>
            <a:off x="4310874" y="2577871"/>
            <a:ext cx="754241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Enhanced net downward shortwave surface flux, largely controlled by atmospheric (cloud) variations, contributes to regional anomalous warming.(Loeb, Wang et al. 2019).</a:t>
            </a:r>
          </a:p>
        </p:txBody>
      </p:sp>
      <p:sp>
        <p:nvSpPr>
          <p:cNvPr id="17" name="矩形 16"/>
          <p:cNvSpPr/>
          <p:nvPr>
            <p:custDataLst>
              <p:tags r:id="rId9"/>
            </p:custDataLst>
          </p:nvPr>
        </p:nvSpPr>
        <p:spPr>
          <a:xfrm>
            <a:off x="4301171" y="3789812"/>
            <a:ext cx="7604125" cy="1075055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solidFill>
                <a:schemeClr val="tx1"/>
              </a:solidFill>
            </a:endParaRPr>
          </a:p>
        </p:txBody>
      </p:sp>
      <p:sp>
        <p:nvSpPr>
          <p:cNvPr id="18" name="矩形 17"/>
          <p:cNvSpPr/>
          <p:nvPr>
            <p:custDataLst>
              <p:tags r:id="rId10"/>
            </p:custDataLst>
          </p:nvPr>
        </p:nvSpPr>
        <p:spPr>
          <a:xfrm>
            <a:off x="449580" y="3773170"/>
            <a:ext cx="3672840" cy="1075055"/>
          </a:xfrm>
          <a:prstGeom prst="rect">
            <a:avLst/>
          </a:prstGeom>
          <a:noFill/>
          <a:ln w="22225"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b="1" dirty="0">
                <a:solidFill>
                  <a:schemeClr val="bg1"/>
                </a:solidFill>
              </a:rPr>
              <a:t>Mechanism Scale-Up: Thermodynamic Feedback</a:t>
            </a:r>
          </a:p>
        </p:txBody>
      </p:sp>
      <p:sp>
        <p:nvSpPr>
          <p:cNvPr id="19" name="椭圆 18"/>
          <p:cNvSpPr/>
          <p:nvPr>
            <p:custDataLst>
              <p:tags r:id="rId11"/>
            </p:custDataLst>
          </p:nvPr>
        </p:nvSpPr>
        <p:spPr>
          <a:xfrm>
            <a:off x="307857" y="3613349"/>
            <a:ext cx="352926" cy="352926"/>
          </a:xfrm>
          <a:prstGeom prst="ellipse">
            <a:avLst/>
          </a:prstGeom>
          <a:solidFill>
            <a:schemeClr val="accent2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20" name="文本框 19"/>
          <p:cNvSpPr txBox="1"/>
          <p:nvPr>
            <p:custDataLst>
              <p:tags r:id="rId12"/>
            </p:custDataLst>
          </p:nvPr>
        </p:nvSpPr>
        <p:spPr>
          <a:xfrm>
            <a:off x="4310874" y="3825200"/>
            <a:ext cx="767058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This illustrates the Clausius-Clapeyron effect: rising temperatures force the atmosphere to absorb more water vapor, which in turn locks in more heat (Pall, Allen et al. 2007, O</a:t>
            </a:r>
            <a:r>
              <a:rPr lang="zh-CN" altLang="zh-CN" dirty="0"/>
              <a:t>’</a:t>
            </a:r>
            <a:r>
              <a:rPr lang="en-US" altLang="zh-CN" dirty="0"/>
              <a:t>Gorman and Muller 2010).</a:t>
            </a:r>
          </a:p>
        </p:txBody>
      </p:sp>
      <p:sp>
        <p:nvSpPr>
          <p:cNvPr id="21" name="矩形 20"/>
          <p:cNvSpPr/>
          <p:nvPr>
            <p:custDataLst>
              <p:tags r:id="rId13"/>
            </p:custDataLst>
          </p:nvPr>
        </p:nvSpPr>
        <p:spPr>
          <a:xfrm>
            <a:off x="4301490" y="5008245"/>
            <a:ext cx="7604125" cy="1075055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solidFill>
                <a:schemeClr val="tx1"/>
              </a:solidFill>
            </a:endParaRPr>
          </a:p>
        </p:txBody>
      </p:sp>
      <p:sp>
        <p:nvSpPr>
          <p:cNvPr id="22" name="矩形 21"/>
          <p:cNvSpPr/>
          <p:nvPr>
            <p:custDataLst>
              <p:tags r:id="rId14"/>
            </p:custDataLst>
          </p:nvPr>
        </p:nvSpPr>
        <p:spPr>
          <a:xfrm>
            <a:off x="449580" y="5008245"/>
            <a:ext cx="3672840" cy="1075055"/>
          </a:xfrm>
          <a:prstGeom prst="rect">
            <a:avLst/>
          </a:prstGeom>
          <a:noFill/>
          <a:ln w="22225"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b="1" dirty="0">
                <a:solidFill>
                  <a:schemeClr val="bg1"/>
                </a:solidFill>
              </a:rPr>
              <a:t>Final Conclusion: The New Normal of Climate Change</a:t>
            </a:r>
          </a:p>
        </p:txBody>
      </p:sp>
      <p:sp>
        <p:nvSpPr>
          <p:cNvPr id="23" name="椭圆 22"/>
          <p:cNvSpPr/>
          <p:nvPr>
            <p:custDataLst>
              <p:tags r:id="rId15"/>
            </p:custDataLst>
          </p:nvPr>
        </p:nvSpPr>
        <p:spPr>
          <a:xfrm>
            <a:off x="307857" y="4848424"/>
            <a:ext cx="352926" cy="352926"/>
          </a:xfrm>
          <a:prstGeom prst="ellipse">
            <a:avLst/>
          </a:prstGeom>
          <a:solidFill>
            <a:schemeClr val="accent2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24" name="文本框 23"/>
          <p:cNvSpPr txBox="1"/>
          <p:nvPr>
            <p:custDataLst>
              <p:tags r:id="rId16"/>
            </p:custDataLst>
          </p:nvPr>
        </p:nvSpPr>
        <p:spPr>
          <a:xfrm>
            <a:off x="4339448" y="5050980"/>
            <a:ext cx="7406640" cy="9220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Driven by rigorous thermodynamics, the region is irreversibly moving toward a high-energy climate state characterized by warmer, wetter, and more extreme fluctuations.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/>
          <p:cNvSpPr txBox="1"/>
          <p:nvPr/>
        </p:nvSpPr>
        <p:spPr>
          <a:xfrm>
            <a:off x="5077532" y="196031"/>
            <a:ext cx="1996296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>
                <a:solidFill>
                  <a:srgbClr val="D4AF37"/>
                </a:solidFill>
              </a:rPr>
              <a:t>Reference</a:t>
            </a:r>
          </a:p>
        </p:txBody>
      </p:sp>
      <p:sp>
        <p:nvSpPr>
          <p:cNvPr id="13" name="Rectangle 2"/>
          <p:cNvSpPr/>
          <p:nvPr/>
        </p:nvSpPr>
        <p:spPr>
          <a:xfrm>
            <a:off x="245110" y="718820"/>
            <a:ext cx="11661140" cy="762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文本框 5"/>
          <p:cNvSpPr txBox="1"/>
          <p:nvPr/>
        </p:nvSpPr>
        <p:spPr>
          <a:xfrm>
            <a:off x="1618766" y="978754"/>
            <a:ext cx="8913694" cy="56311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AutoNum type="arabicPeriod"/>
            </a:pPr>
            <a:r>
              <a:rPr lang="en-US" altLang="zh-CN" sz="1800" dirty="0">
                <a:solidFill>
                  <a:schemeClr val="bg1"/>
                </a:solidFill>
                <a:effectLst/>
                <a:latin typeface="等线" panose="02010600030101010101" pitchFamily="2" charset="-122"/>
                <a:cs typeface="Times New Roman" panose="02020603050405020304" pitchFamily="18" charset="0"/>
              </a:rPr>
              <a:t>Loeb, N. G., et al. (2019). "Decomposing shortwave top-of-atmosphere and surface radiative flux variations in terms of surface and atmospheric contributions." </a:t>
            </a:r>
            <a:r>
              <a:rPr lang="en-US" altLang="zh-CN" sz="1800" u="sng" dirty="0">
                <a:solidFill>
                  <a:schemeClr val="bg1"/>
                </a:solidFill>
                <a:effectLst/>
                <a:latin typeface="等线" panose="02010600030101010101" pitchFamily="2" charset="-122"/>
                <a:cs typeface="Times New Roman" panose="02020603050405020304" pitchFamily="18" charset="0"/>
              </a:rPr>
              <a:t>Journal of Climate</a:t>
            </a:r>
            <a:r>
              <a:rPr lang="en-US" altLang="zh-CN" sz="1800" dirty="0">
                <a:solidFill>
                  <a:schemeClr val="bg1"/>
                </a:solidFill>
                <a:effectLst/>
                <a:latin typeface="等线" panose="02010600030101010101" pitchFamily="2" charset="-122"/>
                <a:cs typeface="Times New Roman" panose="02020603050405020304" pitchFamily="18" charset="0"/>
              </a:rPr>
              <a:t> </a:t>
            </a:r>
            <a:r>
              <a:rPr lang="en-US" altLang="zh-CN" sz="1800" b="1" dirty="0">
                <a:solidFill>
                  <a:schemeClr val="bg1"/>
                </a:solidFill>
                <a:effectLst/>
                <a:latin typeface="等线" panose="02010600030101010101" pitchFamily="2" charset="-122"/>
                <a:cs typeface="Times New Roman" panose="02020603050405020304" pitchFamily="18" charset="0"/>
              </a:rPr>
              <a:t>32</a:t>
            </a:r>
            <a:r>
              <a:rPr lang="en-US" altLang="zh-CN" sz="1800" dirty="0">
                <a:solidFill>
                  <a:schemeClr val="bg1"/>
                </a:solidFill>
                <a:effectLst/>
                <a:latin typeface="等线" panose="02010600030101010101" pitchFamily="2" charset="-122"/>
                <a:cs typeface="Times New Roman" panose="02020603050405020304" pitchFamily="18" charset="0"/>
              </a:rPr>
              <a:t>(16): 5003-5019.</a:t>
            </a:r>
          </a:p>
          <a:p>
            <a:pPr marL="342900" indent="-342900">
              <a:buAutoNum type="arabicPeriod"/>
            </a:pPr>
            <a:r>
              <a:rPr lang="en-US" altLang="zh-CN" sz="1800" dirty="0">
                <a:solidFill>
                  <a:schemeClr val="bg1"/>
                </a:solidFill>
                <a:effectLst/>
                <a:latin typeface="等线" panose="02010600030101010101" pitchFamily="2" charset="-122"/>
                <a:cs typeface="Times New Roman" panose="02020603050405020304" pitchFamily="18" charset="0"/>
              </a:rPr>
              <a:t>Manabe, S. (2019). "Role of greenhouse gas in climate change." Tellus A: Dynamic Meteorology and Oceanography 71(1): 1620078.</a:t>
            </a:r>
          </a:p>
          <a:p>
            <a:pPr marL="342900" indent="-342900">
              <a:buAutoNum type="arabicPeriod"/>
            </a:pPr>
            <a:r>
              <a:rPr lang="en-US" altLang="zh-CN" dirty="0" err="1">
                <a:solidFill>
                  <a:schemeClr val="bg1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Minobe</a:t>
            </a:r>
            <a:r>
              <a:rPr lang="en-US" altLang="zh-CN" dirty="0">
                <a:solidFill>
                  <a:schemeClr val="bg1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, S., et al. (2008). "Influence of the Gulf Stream on the troposphere." </a:t>
            </a:r>
            <a:r>
              <a:rPr lang="en-US" altLang="zh-CN" u="sng" dirty="0">
                <a:solidFill>
                  <a:schemeClr val="bg1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Nature</a:t>
            </a:r>
            <a:r>
              <a:rPr lang="en-US" altLang="zh-CN" dirty="0">
                <a:solidFill>
                  <a:schemeClr val="bg1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 </a:t>
            </a:r>
            <a:r>
              <a:rPr lang="en-US" altLang="zh-CN" b="1" dirty="0">
                <a:solidFill>
                  <a:schemeClr val="bg1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452</a:t>
            </a:r>
            <a:r>
              <a:rPr lang="en-US" altLang="zh-CN" dirty="0">
                <a:solidFill>
                  <a:schemeClr val="bg1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(7184): 206-209.</a:t>
            </a:r>
            <a:endParaRPr lang="zh-CN" altLang="zh-CN" dirty="0">
              <a:solidFill>
                <a:schemeClr val="bg1"/>
              </a:solidFill>
              <a:latin typeface="等线" panose="02010600030101010101" pitchFamily="2" charset="-122"/>
              <a:ea typeface="等线" panose="02010600030101010101" pitchFamily="2" charset="-122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altLang="zh-CN" dirty="0">
                <a:solidFill>
                  <a:schemeClr val="bg1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O</a:t>
            </a:r>
            <a:r>
              <a:rPr lang="zh-CN" altLang="zh-CN" dirty="0">
                <a:solidFill>
                  <a:schemeClr val="bg1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’</a:t>
            </a:r>
            <a:r>
              <a:rPr lang="en-US" altLang="zh-CN" dirty="0">
                <a:solidFill>
                  <a:schemeClr val="bg1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Gorman, P. A. and C. J. Muller (2010). "How closely do changes in surface and column water vapor follow Clausius</a:t>
            </a:r>
            <a:r>
              <a:rPr lang="zh-CN" altLang="zh-CN" dirty="0">
                <a:solidFill>
                  <a:schemeClr val="bg1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–</a:t>
            </a:r>
            <a:r>
              <a:rPr lang="en-US" altLang="zh-CN" dirty="0">
                <a:solidFill>
                  <a:schemeClr val="bg1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Clapeyron scaling in climate change simulations?" </a:t>
            </a:r>
            <a:r>
              <a:rPr lang="en-US" altLang="zh-CN" u="sng" dirty="0">
                <a:solidFill>
                  <a:schemeClr val="bg1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Environmental Research Letters</a:t>
            </a:r>
            <a:r>
              <a:rPr lang="en-US" altLang="zh-CN" dirty="0">
                <a:solidFill>
                  <a:schemeClr val="bg1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 </a:t>
            </a:r>
            <a:r>
              <a:rPr lang="en-US" altLang="zh-CN" b="1" dirty="0">
                <a:solidFill>
                  <a:schemeClr val="bg1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5</a:t>
            </a:r>
            <a:r>
              <a:rPr lang="en-US" altLang="zh-CN" dirty="0">
                <a:solidFill>
                  <a:schemeClr val="bg1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(2): 025207.</a:t>
            </a:r>
            <a:endParaRPr lang="zh-CN" altLang="zh-CN" dirty="0">
              <a:solidFill>
                <a:schemeClr val="bg1"/>
              </a:solidFill>
              <a:latin typeface="等线" panose="02010600030101010101" pitchFamily="2" charset="-122"/>
              <a:ea typeface="等线" panose="02010600030101010101" pitchFamily="2" charset="-122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altLang="zh-CN" dirty="0">
                <a:solidFill>
                  <a:schemeClr val="bg1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Pall, P., et al. (2007). "Testing the Clausius</a:t>
            </a:r>
            <a:r>
              <a:rPr lang="zh-CN" altLang="zh-CN" dirty="0">
                <a:solidFill>
                  <a:schemeClr val="bg1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–</a:t>
            </a:r>
            <a:r>
              <a:rPr lang="en-US" altLang="zh-CN" dirty="0">
                <a:solidFill>
                  <a:schemeClr val="bg1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Clapeyron constraint on changes in extreme precipitation under CO2 warming." </a:t>
            </a:r>
            <a:r>
              <a:rPr lang="en-US" altLang="zh-CN" u="sng" dirty="0">
                <a:solidFill>
                  <a:schemeClr val="bg1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Climate Dynamics</a:t>
            </a:r>
            <a:r>
              <a:rPr lang="en-US" altLang="zh-CN" dirty="0">
                <a:solidFill>
                  <a:schemeClr val="bg1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 </a:t>
            </a:r>
            <a:r>
              <a:rPr lang="en-US" altLang="zh-CN" b="1" dirty="0">
                <a:solidFill>
                  <a:schemeClr val="bg1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28</a:t>
            </a:r>
            <a:r>
              <a:rPr lang="en-US" altLang="zh-CN" dirty="0">
                <a:solidFill>
                  <a:schemeClr val="bg1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(4): 351-363.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zh-CN" dirty="0">
                <a:solidFill>
                  <a:schemeClr val="bg1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Palter, J. B. (2015). "The role of the Gulf Stream in European climate." </a:t>
            </a:r>
            <a:r>
              <a:rPr lang="en-US" altLang="zh-CN" u="sng" dirty="0">
                <a:solidFill>
                  <a:schemeClr val="bg1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Annual review of marine science</a:t>
            </a:r>
            <a:r>
              <a:rPr lang="en-US" altLang="zh-CN" dirty="0">
                <a:solidFill>
                  <a:schemeClr val="bg1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 </a:t>
            </a:r>
            <a:r>
              <a:rPr lang="en-US" altLang="zh-CN" b="1" dirty="0">
                <a:solidFill>
                  <a:schemeClr val="bg1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7</a:t>
            </a:r>
            <a:r>
              <a:rPr lang="en-US" altLang="zh-CN" dirty="0">
                <a:solidFill>
                  <a:schemeClr val="bg1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(1): 113-137.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zh-CN" dirty="0">
                <a:solidFill>
                  <a:schemeClr val="bg1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Qin, P., et al. (2024). "Characteristics of population exposure to climate extremes from regional to global 1.5</a:t>
            </a:r>
            <a:r>
              <a:rPr lang="" altLang="en-US" dirty="0">
                <a:solidFill>
                  <a:schemeClr val="bg1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°</a:t>
            </a:r>
            <a:r>
              <a:rPr lang="en-US" altLang="zh-CN" dirty="0">
                <a:solidFill>
                  <a:schemeClr val="bg1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 C and 2.0</a:t>
            </a:r>
            <a:r>
              <a:rPr lang="" altLang="en-US" dirty="0">
                <a:solidFill>
                  <a:schemeClr val="bg1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°</a:t>
            </a:r>
            <a:r>
              <a:rPr lang="en-US" altLang="zh-CN" dirty="0">
                <a:solidFill>
                  <a:schemeClr val="bg1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 C warming in CMIP6 models." Environmental Research Letters 19(1): 014018.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zh-CN" dirty="0">
                <a:solidFill>
                  <a:schemeClr val="bg1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Weilnhammer, V., et al. (2021). "Extreme weather events in europe and their health consequences–A systematic review." International Journal of Hygiene and Environmental Health 233: 113688.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/>
          <p:cNvSpPr txBox="1"/>
          <p:nvPr/>
        </p:nvSpPr>
        <p:spPr>
          <a:xfrm>
            <a:off x="3411447" y="221215"/>
            <a:ext cx="516228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altLang="zh-CN" sz="2800" b="1" dirty="0">
                <a:solidFill>
                  <a:srgbClr val="D4AF37"/>
                </a:solidFill>
              </a:rPr>
              <a:t>Team Task Distribution Table</a:t>
            </a:r>
            <a:endParaRPr lang="en-US" altLang="zh-CN" sz="2800" b="1" dirty="0">
              <a:solidFill>
                <a:srgbClr val="D4AF37"/>
              </a:solidFill>
            </a:endParaRPr>
          </a:p>
        </p:txBody>
      </p:sp>
      <p:sp>
        <p:nvSpPr>
          <p:cNvPr id="13" name="Rectangle 2"/>
          <p:cNvSpPr/>
          <p:nvPr/>
        </p:nvSpPr>
        <p:spPr>
          <a:xfrm>
            <a:off x="245110" y="718820"/>
            <a:ext cx="11661140" cy="762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3" name="表格 2"/>
          <p:cNvGraphicFramePr>
            <a:graphicFrameLocks noGrp="1"/>
          </p:cNvGraphicFramePr>
          <p:nvPr/>
        </p:nvGraphicFramePr>
        <p:xfrm>
          <a:off x="565467" y="1401665"/>
          <a:ext cx="11061065" cy="4428490"/>
        </p:xfrm>
        <a:graphic>
          <a:graphicData uri="http://schemas.openxmlformats.org/drawingml/2006/table">
            <a:tbl>
              <a:tblPr firstRow="1" bandRow="1">
                <a:tableStyleId>{2D7E745F-D0BE-4AB5-A735-7A81F4BE7858}</a:tableStyleId>
              </a:tblPr>
              <a:tblGrid>
                <a:gridCol w="30010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993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40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864870">
                <a:tc>
                  <a:txBody>
                    <a:bodyPr/>
                    <a:lstStyle/>
                    <a:p>
                      <a:pPr algn="ctr" fontAlgn="ctr">
                        <a:lnSpc>
                          <a:spcPct val="120000"/>
                        </a:lnSpc>
                        <a:buNone/>
                      </a:pPr>
                      <a:r>
                        <a:rPr lang="en-US" sz="1800" u="none" strike="noStrike" spc="130" dirty="0">
                          <a:solidFill>
                            <a:schemeClr val="tx1"/>
                          </a:solidFill>
                          <a:effectLst/>
                        </a:rPr>
                        <a:t>Group members</a:t>
                      </a:r>
                    </a:p>
                  </a:txBody>
                  <a:tcPr marL="254000" marR="254000" marT="177800" marB="177800" anchor="ctr"/>
                </a:tc>
                <a:tc>
                  <a:txBody>
                    <a:bodyPr/>
                    <a:lstStyle/>
                    <a:p>
                      <a:pPr algn="ctr" fontAlgn="ctr">
                        <a:lnSpc>
                          <a:spcPct val="120000"/>
                        </a:lnSpc>
                        <a:buNone/>
                      </a:pPr>
                      <a:r>
                        <a:rPr lang="en-US" sz="1800" u="none" strike="noStrike" spc="130" dirty="0">
                          <a:solidFill>
                            <a:schemeClr val="tx1"/>
                          </a:solidFill>
                          <a:effectLst/>
                        </a:rPr>
                        <a:t>Student ID</a:t>
                      </a:r>
                    </a:p>
                  </a:txBody>
                  <a:tcPr marL="254000" marR="254000" marT="177800" marB="177800" anchor="ctr"/>
                </a:tc>
                <a:tc>
                  <a:txBody>
                    <a:bodyPr/>
                    <a:lstStyle/>
                    <a:p>
                      <a:pPr algn="ctr" fontAlgn="ctr">
                        <a:lnSpc>
                          <a:spcPct val="120000"/>
                        </a:lnSpc>
                        <a:buNone/>
                      </a:pPr>
                      <a:r>
                        <a:rPr lang="en-US" sz="1800" u="none" strike="noStrike" spc="130" dirty="0">
                          <a:solidFill>
                            <a:schemeClr val="tx1"/>
                          </a:solidFill>
                          <a:effectLst/>
                        </a:rPr>
                        <a:t>Main responsibilities</a:t>
                      </a:r>
                    </a:p>
                  </a:txBody>
                  <a:tcPr marL="254000" marR="254000" marT="177800" marB="17780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88085">
                <a:tc>
                  <a:txBody>
                    <a:bodyPr/>
                    <a:lstStyle/>
                    <a:p>
                      <a:pPr algn="ctr" fontAlgn="ctr">
                        <a:lnSpc>
                          <a:spcPct val="120000"/>
                        </a:lnSpc>
                        <a:buNone/>
                      </a:pPr>
                      <a:r>
                        <a:rPr lang="en-GB" sz="1600" u="none" strike="noStrike">
                          <a:effectLst/>
                        </a:rPr>
                        <a:t>Ruiqi Huang</a:t>
                      </a:r>
                    </a:p>
                  </a:txBody>
                  <a:tcPr marL="254000" marR="254000" marT="177800" marB="177800" anchor="ctr"/>
                </a:tc>
                <a:tc>
                  <a:txBody>
                    <a:bodyPr/>
                    <a:lstStyle/>
                    <a:p>
                      <a:pPr algn="ctr" fontAlgn="ctr">
                        <a:lnSpc>
                          <a:spcPct val="120000"/>
                        </a:lnSpc>
                        <a:buNone/>
                      </a:pPr>
                      <a:r>
                        <a:rPr lang="en-US" altLang="zh-CN" sz="1600" u="none" strike="noStrike" dirty="0">
                          <a:effectLst/>
                        </a:rPr>
                        <a:t>14180111</a:t>
                      </a:r>
                    </a:p>
                  </a:txBody>
                  <a:tcPr marL="254000" marR="254000" marT="177800" marB="177800" anchor="ctr"/>
                </a:tc>
                <a:tc>
                  <a:txBody>
                    <a:bodyPr/>
                    <a:lstStyle/>
                    <a:p>
                      <a:pPr algn="ctr" fontAlgn="ctr">
                        <a:lnSpc>
                          <a:spcPct val="120000"/>
                        </a:lnSpc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Drawing annual trend charts and scatter plots, integrating code, writing README, and creating PPT presentations.</a:t>
                      </a:r>
                    </a:p>
                  </a:txBody>
                  <a:tcPr marL="254000" marR="254000" marT="177800" marB="1778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87450">
                <a:tc>
                  <a:txBody>
                    <a:bodyPr/>
                    <a:lstStyle/>
                    <a:p>
                      <a:pPr algn="ctr" fontAlgn="ctr">
                        <a:lnSpc>
                          <a:spcPct val="120000"/>
                        </a:lnSpc>
                        <a:buNone/>
                      </a:pPr>
                      <a:r>
                        <a:rPr lang="en-GB" sz="1600" u="none" strike="noStrike">
                          <a:effectLst/>
                        </a:rPr>
                        <a:t>Kedi Li</a:t>
                      </a:r>
                    </a:p>
                  </a:txBody>
                  <a:tcPr marL="254000" marR="254000" marT="177800" marB="177800" anchor="ctr"/>
                </a:tc>
                <a:tc>
                  <a:txBody>
                    <a:bodyPr/>
                    <a:lstStyle/>
                    <a:p>
                      <a:pPr algn="ctr" fontAlgn="ctr">
                        <a:lnSpc>
                          <a:spcPct val="120000"/>
                        </a:lnSpc>
                        <a:buNone/>
                      </a:pPr>
                      <a:r>
                        <a:rPr lang="en-US" altLang="zh-CN" sz="1600">
                          <a:effectLst/>
                        </a:rPr>
                        <a:t>14200199</a:t>
                      </a:r>
                      <a:endParaRPr lang="zh-CN" altLang="en-US" sz="1600" u="none" strike="noStrike">
                        <a:effectLst/>
                      </a:endParaRPr>
                    </a:p>
                  </a:txBody>
                  <a:tcPr marL="254000" marR="254000" marT="177800" marB="177800" anchor="ctr"/>
                </a:tc>
                <a:tc>
                  <a:txBody>
                    <a:bodyPr/>
                    <a:lstStyle/>
                    <a:p>
                      <a:pPr algn="ctr" fontAlgn="ctr">
                        <a:lnSpc>
                          <a:spcPct val="120000"/>
                        </a:lnSpc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Creating monthly average trend charts (Heatmap) and </a:t>
                      </a:r>
                      <a:r>
                        <a:rPr lang="en-US" sz="1600" dirty="0">
                          <a:effectLst/>
                        </a:rPr>
                        <a:t>creating</a:t>
                      </a:r>
                      <a:r>
                        <a:rPr lang="en-US" sz="1600" u="none" strike="noStrike" dirty="0">
                          <a:effectLst/>
                        </a:rPr>
                        <a:t> a PowerPoint presentation.</a:t>
                      </a:r>
                    </a:p>
                  </a:txBody>
                  <a:tcPr marL="254000" marR="254000" marT="177800" marB="1778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88085">
                <a:tc>
                  <a:txBody>
                    <a:bodyPr/>
                    <a:lstStyle/>
                    <a:p>
                      <a:pPr algn="ctr" fontAlgn="ctr">
                        <a:lnSpc>
                          <a:spcPct val="120000"/>
                        </a:lnSpc>
                        <a:buNone/>
                      </a:pPr>
                      <a:r>
                        <a:rPr lang="en-GB" sz="1600" u="none" strike="noStrike">
                          <a:effectLst/>
                        </a:rPr>
                        <a:t>Yuhui Duan</a:t>
                      </a:r>
                    </a:p>
                  </a:txBody>
                  <a:tcPr marL="254000" marR="254000" marT="177800" marB="177800" anchor="ctr"/>
                </a:tc>
                <a:tc>
                  <a:txBody>
                    <a:bodyPr/>
                    <a:lstStyle/>
                    <a:p>
                      <a:pPr algn="ctr" fontAlgn="ctr">
                        <a:lnSpc>
                          <a:spcPct val="120000"/>
                        </a:lnSpc>
                        <a:buNone/>
                      </a:pPr>
                      <a:r>
                        <a:rPr lang="en-US" altLang="zh-CN" sz="1600" u="none" strike="noStrike">
                          <a:effectLst/>
                        </a:rPr>
                        <a:t>14219275</a:t>
                      </a:r>
                      <a:endParaRPr lang="zh-CN" altLang="en-US" sz="1600" u="none" strike="noStrike">
                        <a:effectLst/>
                      </a:endParaRPr>
                    </a:p>
                  </a:txBody>
                  <a:tcPr marL="254000" marR="254000" marT="177800" marB="177800" anchor="ctr"/>
                </a:tc>
                <a:tc>
                  <a:txBody>
                    <a:bodyPr/>
                    <a:lstStyle/>
                    <a:p>
                      <a:pPr algn="ctr" fontAlgn="ctr">
                        <a:lnSpc>
                          <a:spcPct val="120000"/>
                        </a:lnSpc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Drawing a correlation matrix and creating a PowerPoint presentation.</a:t>
                      </a:r>
                    </a:p>
                  </a:txBody>
                  <a:tcPr marL="254000" marR="254000" marT="177800" marB="1778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ESOURCE_RECORD_KEY" val="{&quot;29&quot;:[50052409,50000047,50000097]}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93.7343307086614,&quot;left&quot;:24.240708661417287,&quot;top&quot;:85.26566929133858,&quot;width&quot;:916.8092913385826}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93.7343307086614,&quot;left&quot;:24.240708661417287,&quot;top&quot;:85.26566929133858,&quot;width&quot;:916.8092913385826}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93.7343307086614,&quot;left&quot;:24.240708661417287,&quot;top&quot;:85.26566929133858,&quot;width&quot;:916.8092913385826}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93.7343307086614,&quot;left&quot;:24.240708661417287,&quot;top&quot;:85.26566929133858,&quot;width&quot;:916.8092913385826}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93.7343307086614,&quot;left&quot;:24.240708661417287,&quot;top&quot;:85.26566929133858,&quot;width&quot;:916.8092913385826}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93.7343307086614,&quot;left&quot;:24.240708661417287,&quot;top&quot;:85.26566929133858,&quot;width&quot;:916.8092913385826}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93.7343307086614,&quot;left&quot;:24.240708661417287,&quot;top&quot;:85.26566929133858,&quot;width&quot;:916.8092913385826}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93.7343307086614,&quot;left&quot;:24.240708661417287,&quot;top&quot;:85.26566929133858,&quot;width&quot;:916.8092913385826}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93.7343307086614,&quot;left&quot;:24.240708661417287,&quot;top&quot;:85.26566929133858,&quot;width&quot;:916.8092913385826}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93.7343307086614,&quot;left&quot;:24.240708661417287,&quot;top&quot;:85.26566929133858,&quot;width&quot;:916.8092913385826}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93.7343307086614,&quot;left&quot;:24.240708661417287,&quot;top&quot;:85.26566929133858,&quot;width&quot;:916.8092913385826}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93.7343307086614,&quot;left&quot;:24.240708661417287,&quot;top&quot;:85.26566929133858,&quot;width&quot;:916.8092913385826}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93.7343307086614,&quot;left&quot;:24.240708661417287,&quot;top&quot;:85.26566929133858,&quot;width&quot;:916.8092913385826}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93.7343307086614,&quot;left&quot;:24.240708661417287,&quot;top&quot;:85.26566929133858,&quot;width&quot;:916.8092913385826}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93.7343307086614,&quot;left&quot;:24.240708661417287,&quot;top&quot;:85.26566929133858,&quot;width&quot;:916.8092913385826}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93.7343307086614,&quot;left&quot;:24.240708661417287,&quot;top&quot;:85.26566929133858,&quot;width&quot;:916.8092913385826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Arial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Arial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Arial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Arial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Arial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Arial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982514d0-1baf-4113-b1b0-77e0727f613a" xmlns:xsi="http://www.w3.org/2001/XMLSchema-instance" xsi:nil="true"/>
  </documentManagement>
</p:properties>
</file>

<file path=customXml/item2.xml><?xml version="1.0" encoding="utf-8"?>
<?mso-contentType ?>
<FormTemplates xmlns="http://schemas.microsoft.com/sharepoint/v3/contenttype/forms">
  <Display xmlns="http://schemas.microsoft.com/sharepoint/v3/contenttype/forms">DocumentLibraryForm</Display>
  <Edit xmlns="http://schemas.microsoft.com/sharepoint/v3/contenttype/forms">DocumentLibraryForm</Edit>
  <New xmlns="http://schemas.microsoft.com/sharepoint/v3/contenttype/forms">DocumentLibraryForm</New>
</FormTemplates>
</file>

<file path=customXml/item3.xml><?xml version="1.0" encoding="utf-8"?>
<ct:contentTypeSchema xmlns:ct="http://schemas.microsoft.com/office/2006/metadata/contentType" contentTypeVersion="9" _="" contentTypeDescription="Create a new document." contentTypeScope="" contentTypeID="0x010100F1D26F62E5C4DC4D98FAB396728BB81D" versionID="1f03f48f6527d541a3b18ac4739cc1f0" contentTypeName="Document">
  <xsd:schema xmlns:xsd="http://www.w3.org/2001/XMLSchema" root="true" _="" targetNamespace="http://schemas.microsoft.com/office/2006/metadata/properties" fieldsID="a7f4b56daed70b72f0fb16df63363826">
    <xsd:import xmlns:xsd="http://www.w3.org/2001/XMLSchema" namespace="982514d0-1baf-4113-b1b0-77e0727f613a"/>
    <xsd:element xmlns:xsd="http://www.w3.org/2001/XMLSchema" name="properties">
      <xsd:complexType xmlns:xsd="http://www.w3.org/2001/XMLSchema">
        <xsd:sequence xmlns:xsd="http://www.w3.org/2001/XMLSchema">
          <xsd:element xmlns:xsd="http://www.w3.org/2001/XMLSchema" name="documentManagement">
            <xsd:complexType xmlns:xsd="http://www.w3.org/2001/XMLSchema">
              <xsd:all xmlns:xsd="http://www.w3.org/2001/XMLSchema">
                <xsd:element xmlns:xsd="http://www.w3.org/2001/XMLSchema" minOccurs="0" ref="ns3:MediaServiceDateTaken"/>
                <xsd:element xmlns:xsd="http://www.w3.org/2001/XMLSchema" minOccurs="0" ref="ns3:_activity"/>
                <xsd:element xmlns:xsd="http://www.w3.org/2001/XMLSchema" minOccurs="0" ref="ns3:MediaServiceMetadata"/>
                <xsd:element xmlns:xsd="http://www.w3.org/2001/XMLSchema" minOccurs="0" ref="ns3:MediaServiceFastMetadata"/>
                <xsd:element xmlns:xsd="http://www.w3.org/2001/XMLSchema" minOccurs="0" ref="ns3:MediaServiceSearchProperties"/>
                <xsd:element xmlns:xsd="http://www.w3.org/2001/XMLSchema" minOccurs="0" ref="ns3:MediaServiceSystemTags"/>
                <xsd:element xmlns:xsd="http://www.w3.org/2001/XMLSchema" minOccurs="0" ref="ns3:MediaServiceOCR"/>
                <xsd:element xmlns:xsd="http://www.w3.org/2001/XMLSchema" minOccurs="0" ref="ns3:MediaServiceGenerationTime"/>
                <xsd:element xmlns:xsd="http://www.w3.org/2001/XMLSchema" minOccurs="0" ref="ns3:MediaServiceEventHashCode"/>
              </xsd:all>
            </xsd:complexType>
          </xsd:element>
        </xsd:sequence>
      </xsd:complexType>
    </xsd:element>
  </xsd:schema>
  <xsd:schema xmlns:xsd="http://www.w3.org/2001/XMLSchema" targetNamespace="982514d0-1baf-4113-b1b0-77e0727f613a" elementFormDefault="qualified">
    <xsd:import xmlns:xsd="http://www.w3.org/2001/XMLSchema" namespace="http://schemas.microsoft.com/office/2006/documentManagement/types"/>
    <xsd:import xmlns:xsd="http://www.w3.org/2001/XMLSchema" namespace="http://schemas.microsoft.com/office/infopath/2007/PartnerControls"/>
    <xsd:element xmlns:xsd="http://www.w3.org/2001/XMLSchema" xmlns:ma="http://schemas.microsoft.com/office/2006/metadata/properties/metaAttributes" ma:indexed="true" name="MediaServiceDateTaken" ma:internalName="MediaServiceDateTaken" ma:index="8" nillable="true" displayName="MediaServiceDateTaken" hidden="true" ma:readOnly="true">
      <xsd:simpleType xmlns:xsd="http://www.w3.org/2001/XMLSchema">
        <xsd:restriction xmlns:xsd="http://www.w3.org/2001/XMLSchema" base="dms:Text"/>
      </xsd:simpleType>
    </xsd:element>
    <xsd:element xmlns:xsd="http://www.w3.org/2001/XMLSchema" xmlns:ma="http://schemas.microsoft.com/office/2006/metadata/properties/metaAttributes" name="_activity" ma:internalName="_activity" ma:index="9" nillable="true" displayName="_activity" hidden="true">
      <xsd:simpleType xmlns:xsd="http://www.w3.org/2001/XMLSchema">
        <xsd:restriction xmlns:xsd="http://www.w3.org/2001/XMLSchema" base="dms:Note"/>
      </xsd:simpleType>
    </xsd:element>
    <xsd:element xmlns:xsd="http://www.w3.org/2001/XMLSchema" xmlns:ma="http://schemas.microsoft.com/office/2006/metadata/properties/metaAttributes" name="MediaServiceMetadata" ma:internalName="MediaServiceMetadata" ma:index="10" nillable="true" displayName="MediaServiceMetadata" hidden="true" ma:readOnly="true">
      <xsd:simpleType xmlns:xsd="http://www.w3.org/2001/XMLSchema">
        <xsd:restriction xmlns:xsd="http://www.w3.org/2001/XMLSchema" base="dms:Note"/>
      </xsd:simpleType>
    </xsd:element>
    <xsd:element xmlns:xsd="http://www.w3.org/2001/XMLSchema" xmlns:ma="http://schemas.microsoft.com/office/2006/metadata/properties/metaAttributes" name="MediaServiceFastMetadata" ma:internalName="MediaServiceFastMetadata" ma:index="11" nillable="true" displayName="MediaServiceFastMetadata" hidden="true" ma:readOnly="true">
      <xsd:simpleType xmlns:xsd="http://www.w3.org/2001/XMLSchema">
        <xsd:restriction xmlns:xsd="http://www.w3.org/2001/XMLSchema" base="dms:Note"/>
      </xsd:simpleType>
    </xsd:element>
    <xsd:element xmlns:xsd="http://www.w3.org/2001/XMLSchema" xmlns:ma="http://schemas.microsoft.com/office/2006/metadata/properties/metaAttributes" name="MediaServiceSearchProperties" ma:internalName="MediaServiceSearchProperties" ma:index="12" nillable="true" displayName="MediaServiceSearchProperties" hidden="true" ma:readOnly="true">
      <xsd:simpleType xmlns:xsd="http://www.w3.org/2001/XMLSchema">
        <xsd:restriction xmlns:xsd="http://www.w3.org/2001/XMLSchema" base="dms:Note"/>
      </xsd:simpleType>
    </xsd:element>
    <xsd:element xmlns:xsd="http://www.w3.org/2001/XMLSchema" xmlns:ma="http://schemas.microsoft.com/office/2006/metadata/properties/metaAttributes" name="MediaServiceSystemTags" ma:internalName="MediaServiceSystemTags" ma:index="13" nillable="true" displayName="MediaServiceSystemTags" hidden="true" ma:readOnly="true">
      <xsd:simpleType xmlns:xsd="http://www.w3.org/2001/XMLSchema">
        <xsd:restriction xmlns:xsd="http://www.w3.org/2001/XMLSchema" base="dms:Note"/>
      </xsd:simpleType>
    </xsd:element>
    <xsd:element xmlns:xsd="http://www.w3.org/2001/XMLSchema" xmlns:ma="http://schemas.microsoft.com/office/2006/metadata/properties/metaAttributes" name="MediaServiceOCR" ma:internalName="MediaServiceOCR" index="14" nillable="true" displayName="Extracted Text" ma:readOnly="true">
      <xsd:simpleType xmlns:xsd="http://www.w3.org/2001/XMLSchema">
        <xsd:restriction xmlns:xsd="http://www.w3.org/2001/XMLSchema" base="dms:Note">
          <xsd:maxLength xmlns:xsd="http://www.w3.org/2001/XMLSchema" value="255"/>
        </xsd:restriction>
      </xsd:simpleType>
    </xsd:element>
    <xsd:element xmlns:xsd="http://www.w3.org/2001/XMLSchema" xmlns:ma="http://schemas.microsoft.com/office/2006/metadata/properties/metaAttributes" name="MediaServiceGenerationTime" ma:internalName="MediaServiceGenerationTime" ma:index="15" nillable="true" displayName="MediaServiceGenerationTime" hidden="true" ma:readOnly="true">
      <xsd:simpleType xmlns:xsd="http://www.w3.org/2001/XMLSchema">
        <xsd:restriction xmlns:xsd="http://www.w3.org/2001/XMLSchema" base="dms:Text"/>
      </xsd:simpleType>
    </xsd:element>
    <xsd:element xmlns:xsd="http://www.w3.org/2001/XMLSchema" xmlns:ma="http://schemas.microsoft.com/office/2006/metadata/properties/metaAttributes" name="MediaServiceEventHashCode" ma:internalName="MediaServiceEventHashCode" ma:index="16" nillable="true" displayName="MediaServiceEventHashCode" hidden="true" ma:readOnly="true">
      <xsd:simpleType xmlns:xsd="http://www.w3.org/2001/XMLSchema">
        <xsd:restriction xmlns:xsd="http://www.w3.org/2001/XMLSchema" base="dms:Text"/>
      </xsd:simpleType>
    </xsd:element>
  </xsd:schema>
  <xsd:schema xmlns:xsd="http://www.w3.org/2001/XMLSchema" blockDefault="#all" targetNamespace="http://schemas.openxmlformats.org/package/2006/metadata/core-properties" attributeFormDefault="unqualified" elementFormDefault="qualified">
    <xsd:import xmlns:xsd="http://www.w3.org/2001/XMLSchema" namespace="http://purl.org/dc/elements/1.1/" schemaLocation="http://dublincore.org/schemas/xmls/qdc/2003/04/02/dc.xsd"/>
    <xsd:import xmlns:xsd="http://www.w3.org/2001/XMLSchema" namespace="http://purl.org/dc/terms/" schemaLocation="http://dublincore.org/schemas/xmls/qdc/2003/04/02/dcterms.xsd"/>
    <xsd:element xmlns:xsd="http://www.w3.org/2001/XMLSchema" name="coreProperties" type="CT_coreProperties"/>
    <xsd:complexType xmlns:xsd="http://www.w3.org/2001/XMLSchema" name="CT_coreProperties">
      <xsd:all xmlns:xsd="http://www.w3.org/2001/XMLSchema">
        <xsd:element xmlns:xsd="http://www.w3.org/2001/XMLSchema" maxOccurs="1" minOccurs="0" ref="dc:creator"/>
        <xsd:element xmlns:xsd="http://www.w3.org/2001/XMLSchema" maxOccurs="1" minOccurs="0" ref="dcterms:created"/>
        <xsd:element xmlns:xsd="http://www.w3.org/2001/XMLSchema" maxOccurs="1" minOccurs="0" ref="dc:identifier"/>
        <xsd:element xmlns:xsd="http://www.w3.org/2001/XMLSchema" name="contentType" maxOccurs="1" minOccurs="0" index="0" displayName="Content Type" type="xsd:string"/>
        <xsd:element xmlns:xsd="http://www.w3.org/2001/XMLSchema" maxOccurs="1" minOccurs="0" index="4" displayName="Title" ref="dc:title"/>
        <xsd:element xmlns:xsd="http://www.w3.org/2001/XMLSchema" maxOccurs="1" minOccurs="0" ref="dc:subject"/>
        <xsd:element xmlns:xsd="http://www.w3.org/2001/XMLSchema" maxOccurs="1" minOccurs="0" ref="dc:description"/>
        <xsd:element xmlns:xsd="http://www.w3.org/2001/XMLSchema" name="keywords" maxOccurs="1" minOccurs="0" type="xsd:string"/>
        <xsd:element xmlns:xsd="http://www.w3.org/2001/XMLSchema" maxOccurs="1" minOccurs="0" ref="dc:language"/>
        <xsd:element xmlns:xsd="http://www.w3.org/2001/XMLSchema" name="category" maxOccurs="1" minOccurs="0" type="xsd:string"/>
        <xsd:element xmlns:xsd="http://www.w3.org/2001/XMLSchema" name="version" maxOccurs="1" minOccurs="0" type="xsd:string"/>
        <xsd:element xmlns:xsd="http://www.w3.org/2001/XMLSchema" name="revision" maxOccurs="1" minOccurs="0" type="xsd:string">
          <xsd:annotation xmlns:xsd="http://www.w3.org/2001/XMLSchema">
            <xsd:documentation xmlns:xsd="http://www.w3.org/2001/XMLSchema">
                        This value indicates the number of saves or revisions. The application is responsible for updating this value after each revision.
                    </xsd:documentation>
          </xsd:annotation>
        </xsd:element>
        <xsd:element xmlns:xsd="http://www.w3.org/2001/XMLSchema" name="lastModifiedBy" maxOccurs="1" minOccurs="0" type="xsd:string"/>
        <xsd:element xmlns:xsd="http://www.w3.org/2001/XMLSchema" maxOccurs="1" minOccurs="0" ref="dcterms:modified"/>
        <xsd:element xmlns:xsd="http://www.w3.org/2001/XMLSchema" name="contentStatus" maxOccurs="1" minOccurs="0" type="xsd:string"/>
      </xsd:all>
    </xsd:complexType>
  </xsd:schema>
  <xs:schema xmlns:xs="http://www.w3.org/2001/XMLSchema" targetNamespace="http://schemas.microsoft.com/office/infopath/2007/PartnerControls" attributeFormDefault="unqualified" elementFormDefault="qualified">
    <xs:element xmlns:xs="http://www.w3.org/2001/XMLSchema" name="Person">
      <xs:complexType xmlns:xs="http://www.w3.org/2001/XMLSchema">
        <xs:sequence xmlns:xs="http://www.w3.org/2001/XMLSchema">
          <xs:element xmlns:xs="http://www.w3.org/2001/XMLSchema" minOccurs="0" ref="pc:DisplayName"/>
          <xs:element xmlns:xs="http://www.w3.org/2001/XMLSchema" minOccurs="0" ref="pc:AccountId"/>
          <xs:element xmlns:xs="http://www.w3.org/2001/XMLSchema" minOccurs="0" ref="pc:AccountType"/>
        </xs:sequence>
      </xs:complexType>
    </xs:element>
    <xs:element xmlns:xs="http://www.w3.org/2001/XMLSchema" name="DisplayName" type="xs:string"/>
    <xs:element xmlns:xs="http://www.w3.org/2001/XMLSchema" name="AccountId" type="xs:string"/>
    <xs:element xmlns:xs="http://www.w3.org/2001/XMLSchema" name="AccountType" type="xs:string"/>
    <xs:element xmlns:xs="http://www.w3.org/2001/XMLSchema" name="BDCAssociatedEntity">
      <xs:complexType xmlns:xs="http://www.w3.org/2001/XMLSchema">
        <xs:sequence xmlns:xs="http://www.w3.org/2001/XMLSchema">
          <xs:element xmlns:xs="http://www.w3.org/2001/XMLSchema" maxOccurs="unbounded" minOccurs="0" ref="pc:BDCEntity"/>
        </xs:sequence>
        <xs:attribute xmlns:xs="http://www.w3.org/2001/XMLSchema" ref="pc:EntityNamespace"/>
        <xs:attribute xmlns:xs="http://www.w3.org/2001/XMLSchema" ref="pc:EntityName"/>
        <xs:attribute xmlns:xs="http://www.w3.org/2001/XMLSchema" ref="pc:SystemInstanceName"/>
        <xs:attribute xmlns:xs="http://www.w3.org/2001/XMLSchema" ref="pc:AssociationName"/>
      </xs:complexType>
    </xs:element>
    <xs:attribute xmlns:xs="http://www.w3.org/2001/XMLSchema" name="EntityNamespace" type="xs:string"/>
    <xs:attribute xmlns:xs="http://www.w3.org/2001/XMLSchema" name="EntityName" type="xs:string"/>
    <xs:attribute xmlns:xs="http://www.w3.org/2001/XMLSchema" name="SystemInstanceName" type="xs:string"/>
    <xs:attribute xmlns:xs="http://www.w3.org/2001/XMLSchema" name="AssociationName" type="xs:string"/>
    <xs:element xmlns:xs="http://www.w3.org/2001/XMLSchema" name="BDCEntity">
      <xs:complexType xmlns:xs="http://www.w3.org/2001/XMLSchema">
        <xs:sequence xmlns:xs="http://www.w3.org/2001/XMLSchema">
          <xs:element xmlns:xs="http://www.w3.org/2001/XMLSchema" minOccurs="0" ref="pc:EntityDisplayName"/>
          <xs:element xmlns:xs="http://www.w3.org/2001/XMLSchema" minOccurs="0" ref="pc:EntityInstanceReference"/>
          <xs:element xmlns:xs="http://www.w3.org/2001/XMLSchema" minOccurs="0" ref="pc:EntityId1"/>
          <xs:element xmlns:xs="http://www.w3.org/2001/XMLSchema" minOccurs="0" ref="pc:EntityId2"/>
          <xs:element xmlns:xs="http://www.w3.org/2001/XMLSchema" minOccurs="0" ref="pc:EntityId3"/>
          <xs:element xmlns:xs="http://www.w3.org/2001/XMLSchema" minOccurs="0" ref="pc:EntityId4"/>
          <xs:element xmlns:xs="http://www.w3.org/2001/XMLSchema" minOccurs="0" ref="pc:EntityId5"/>
        </xs:sequence>
      </xs:complexType>
    </xs:element>
    <xs:element xmlns:xs="http://www.w3.org/2001/XMLSchema" name="EntityDisplayName" type="xs:string"/>
    <xs:element xmlns:xs="http://www.w3.org/2001/XMLSchema" name="EntityInstanceReference" type="xs:string"/>
    <xs:element xmlns:xs="http://www.w3.org/2001/XMLSchema" name="EntityId1" type="xs:string"/>
    <xs:element xmlns:xs="http://www.w3.org/2001/XMLSchema" name="EntityId2" type="xs:string"/>
    <xs:element xmlns:xs="http://www.w3.org/2001/XMLSchema" name="EntityId3" type="xs:string"/>
    <xs:element xmlns:xs="http://www.w3.org/2001/XMLSchema" name="EntityId4" type="xs:string"/>
    <xs:element xmlns:xs="http://www.w3.org/2001/XMLSchema" name="EntityId5" type="xs:string"/>
    <xs:element xmlns:xs="http://www.w3.org/2001/XMLSchema" name="Terms">
      <xs:complexType xmlns:xs="http://www.w3.org/2001/XMLSchema">
        <xs:sequence xmlns:xs="http://www.w3.org/2001/XMLSchema">
          <xs:element xmlns:xs="http://www.w3.org/2001/XMLSchema" maxOccurs="unbounded" minOccurs="0" ref="pc:TermInfo"/>
        </xs:sequence>
      </xs:complexType>
    </xs:element>
    <xs:element xmlns:xs="http://www.w3.org/2001/XMLSchema" name="TermInfo">
      <xs:complexType xmlns:xs="http://www.w3.org/2001/XMLSchema">
        <xs:sequence xmlns:xs="http://www.w3.org/2001/XMLSchema">
          <xs:element xmlns:xs="http://www.w3.org/2001/XMLSchema" minOccurs="0" ref="pc:TermName"/>
          <xs:element xmlns:xs="http://www.w3.org/2001/XMLSchema" minOccurs="0" ref="pc:TermId"/>
        </xs:sequence>
      </xs:complexType>
    </xs:element>
    <xs:element xmlns:xs="http://www.w3.org/2001/XMLSchema" name="TermName" type="xs:string"/>
    <xs:element xmlns:xs="http://www.w3.org/2001/XMLSchema" name="TermId" type="xs:string"/>
  </xs:schema>
</ct:contentTypeSchema>
</file>

<file path=customXml/itemProps1.xml><?xml version="1.0" encoding="utf-8"?>
<ds:datastoreItem xmlns:ds="http://schemas.openxmlformats.org/officeDocument/2006/customXml" ds:itemID="{70F8125E-4FF0-47B1-BE46-3121B16ECC1B}">
  <ds:schemaRefs/>
</ds:datastoreItem>
</file>

<file path=customXml/itemProps2.xml><?xml version="1.0" encoding="utf-8"?>
<ds:datastoreItem xmlns:ds="http://schemas.openxmlformats.org/officeDocument/2006/customXml" ds:itemID="{3E5767E8-4B42-4CF5-95F1-D93278658697}">
  <ds:schemaRefs/>
</ds:datastoreItem>
</file>

<file path=customXml/itemProps3.xml><?xml version="1.0" encoding="utf-8"?>
<ds:datastoreItem xmlns:ds="http://schemas.openxmlformats.org/officeDocument/2006/customXml" ds:itemID="{A1A7B617-F2CD-4815-B926-5FA0F78B134C}">
  <ds:schemaRefs/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1118</Words>
  <Application>Microsoft Office PowerPoint</Application>
  <PresentationFormat>宽屏</PresentationFormat>
  <Paragraphs>99</Paragraphs>
  <Slides>13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13</vt:i4>
      </vt:variant>
    </vt:vector>
  </HeadingPairs>
  <TitlesOfParts>
    <vt:vector size="17" baseType="lpstr">
      <vt:lpstr>等线</vt:lpstr>
      <vt:lpstr>Arial</vt:lpstr>
      <vt:lpstr>Wingdings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Ruiqi Huang</cp:lastModifiedBy>
  <cp:revision>1</cp:revision>
  <dcterms:created xsi:type="dcterms:W3CDTF">2026-02-22T19:12:14Z</dcterms:created>
  <dcterms:modified xsi:type="dcterms:W3CDTF">2026-02-23T16:24:58Z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0x010100F1D26F62E5C4DC4D98FAB396728BB81D</vt:lpwstr>
  </property>
  <property fmtid="{D5CDD505-2E9C-101B-9397-08002B2CF9AE}" pid="3" name="KSOProductBuildVer">
    <vt:lpwstr>2052-12.9.0.25288</vt:lpwstr>
  </property>
  <property fmtid="{D5CDD505-2E9C-101B-9397-08002B2CF9AE}" pid="4" name="ICV">
    <vt:lpwstr>3A49769166924A929452A80C2DA26531_13</vt:lpwstr>
  </property>
</Properties>
</file>