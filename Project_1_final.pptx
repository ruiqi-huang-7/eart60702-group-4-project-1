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3"/>
    <p:sldId id="257" r:id="rId4"/>
    <p:sldId id="276" r:id="rId5"/>
    <p:sldId id="278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6" r:id="rId14"/>
    <p:sldId id="285" r:id="rId15"/>
  </p:sldIdLst>
  <p:sldSz cx="12192000" cy="6858000"/>
  <p:notesSz cx="6858000" cy="9144000"/>
  <p:custDataLst>
    <p:tags r:id="rId2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6" userDrawn="1">
          <p15:clr>
            <a:srgbClr val="A4A3A4"/>
          </p15:clr>
        </p15:guide>
        <p15:guide id="2" pos="378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4AF37"/>
    <a:srgbClr val="FE9B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7E745F-D0BE-4AB5-A735-7A81F4BE7858}" styleName="表样式 1 14">
    <a:wholeTbl>
      <a:tcTxStyle>
        <a:fontRef idx="none">
          <a:srgbClr val="000000"/>
        </a:fontRef>
      </a:tcTxStyle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808080">
              <a:lumMod val="10000"/>
              <a:lumOff val="90000"/>
            </a:srgbClr>
          </a:solidFill>
        </a:fill>
      </a:tcStyle>
    </a:band2H>
    <a:band1V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808080">
              <a:lumMod val="10000"/>
              <a:lumOff val="90000"/>
            </a:srgbClr>
          </a:solidFill>
        </a:fill>
      </a:tcStyle>
    </a:band1V>
    <a:band2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band2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808080">
              <a:lumMod val="20000"/>
              <a:lumOff val="80000"/>
            </a:srgb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808080">
              <a:lumMod val="20000"/>
              <a:lumOff val="80000"/>
            </a:srgbClr>
          </a:solidFill>
        </a:fill>
      </a:tcStyle>
    </a:firstCol>
    <a:lastRow>
      <a:tcTxStyle b="on">
        <a:fontRef idx="none">
          <a:srgbClr val="808080"/>
        </a:fontRef>
      </a:tcTxStyle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9525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9525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rgbClr val="808080"/>
              </a:solidFill>
              <a:prstDash val="solid"/>
            </a:ln>
          </a:top>
          <a:bottom>
            <a:ln w="12700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808080"/>
        </a:fontRef>
      </a:tcTxStyle>
      <a:tcStyle>
        <a:tcBdr>
          <a:left>
            <a:ln w="12700" cmpd="sng">
              <a:solidFill>
                <a:srgbClr val="808080"/>
              </a:solidFill>
              <a:prstDash val="solid"/>
            </a:ln>
          </a:left>
          <a:right>
            <a:ln w="12700" cmpd="sng">
              <a:solidFill>
                <a:srgbClr val="808080"/>
              </a:solidFill>
              <a:prstDash val="solid"/>
            </a:ln>
          </a:right>
          <a:top>
            <a:ln w="12700" cmpd="sng">
              <a:solidFill>
                <a:srgbClr val="808080"/>
              </a:solidFill>
              <a:prstDash val="solid"/>
            </a:ln>
          </a:top>
          <a:bottom>
            <a:ln w="9525" cmpd="sng">
              <a:solidFill>
                <a:srgbClr val="808080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808080">
              <a:lumMod val="20000"/>
              <a:lumOff val="80000"/>
            </a:srgb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70" d="100"/>
          <a:sy n="70" d="100"/>
        </p:scale>
        <p:origin x="321" y="45"/>
      </p:cViewPr>
      <p:guideLst>
        <p:guide orient="horz" pos="2276"/>
        <p:guide pos="378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tags" Target="tags/tag20.xml"/><Relationship Id="rId23" Type="http://schemas.openxmlformats.org/officeDocument/2006/relationships/customXml" Target="../customXml/item3.xml"/><Relationship Id="rId22" Type="http://schemas.openxmlformats.org/officeDocument/2006/relationships/customXml" Target="../customXml/item2.xml"/><Relationship Id="rId21" Type="http://schemas.openxmlformats.org/officeDocument/2006/relationships/customXml" Target="../customXml/item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e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e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e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emf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7" Type="http://schemas.openxmlformats.org/officeDocument/2006/relationships/slideLayout" Target="../slideLayouts/slideLayout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2373194" y="3696638"/>
            <a:ext cx="7608172" cy="19389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</a:defRPr>
            </a:pPr>
            <a:r>
              <a:rPr lang="en-US" sz="2400" dirty="0">
                <a:solidFill>
                  <a:schemeClr val="bg1"/>
                </a:solidFill>
              </a:rPr>
              <a:t>EART</a:t>
            </a:r>
            <a:r>
              <a:rPr lang="en-US" altLang="zh-CN" sz="2400" dirty="0">
                <a:solidFill>
                  <a:schemeClr val="bg1"/>
                </a:solidFill>
              </a:rPr>
              <a:t>60702 </a:t>
            </a:r>
            <a:r>
              <a:rPr lang="en-US" altLang="zh-CN" sz="2400" b="1" dirty="0">
                <a:solidFill>
                  <a:schemeClr val="bg1"/>
                </a:solidFill>
              </a:rPr>
              <a:t>Earth and Environmental Data Science</a:t>
            </a:r>
            <a:endParaRPr lang="en-US" altLang="zh-CN" sz="2400" b="1" dirty="0">
              <a:solidFill>
                <a:schemeClr val="bg1"/>
              </a:solidFill>
            </a:endParaRPr>
          </a:p>
          <a:p>
            <a:pPr algn="ctr">
              <a:defRPr sz="4000" b="1">
                <a:solidFill>
                  <a:srgbClr val="D4AF37"/>
                </a:solidFill>
              </a:defRPr>
            </a:pPr>
            <a:endParaRPr lang="en-US" altLang="zh-CN" sz="2400" b="1" dirty="0">
              <a:solidFill>
                <a:schemeClr val="bg1"/>
              </a:solidFill>
            </a:endParaRPr>
          </a:p>
          <a:p>
            <a:pPr algn="ctr">
              <a:defRPr sz="4000" b="1">
                <a:solidFill>
                  <a:srgbClr val="D4AF37"/>
                </a:solidFill>
              </a:defRPr>
            </a:pPr>
            <a:r>
              <a:rPr lang="en-US" altLang="zh-CN" sz="2400" b="1" dirty="0">
                <a:solidFill>
                  <a:schemeClr val="bg1"/>
                </a:solidFill>
              </a:rPr>
              <a:t>Group 4</a:t>
            </a:r>
            <a:endParaRPr lang="en-US" altLang="zh-CN" sz="2400" b="1" dirty="0">
              <a:solidFill>
                <a:schemeClr val="bg1"/>
              </a:solidFill>
            </a:endParaRPr>
          </a:p>
          <a:p>
            <a:pPr algn="ctr">
              <a:defRPr sz="4000" b="1">
                <a:solidFill>
                  <a:srgbClr val="D4AF37"/>
                </a:solidFill>
              </a:defRPr>
            </a:pPr>
            <a:endParaRPr lang="en-US" altLang="zh-CN" sz="2400" b="1" dirty="0">
              <a:solidFill>
                <a:schemeClr val="bg1"/>
              </a:solidFill>
            </a:endParaRPr>
          </a:p>
          <a:p>
            <a:pPr algn="ctr">
              <a:defRPr sz="4000" b="1">
                <a:solidFill>
                  <a:srgbClr val="D4AF37"/>
                </a:solidFill>
              </a:defRPr>
            </a:pPr>
            <a:r>
              <a:rPr lang="en-US" altLang="zh-CN" sz="2400" b="1" dirty="0">
                <a:solidFill>
                  <a:schemeClr val="bg1"/>
                </a:solidFill>
              </a:rPr>
              <a:t>Members</a:t>
            </a:r>
            <a:r>
              <a:rPr lang="zh-CN" altLang="en-US" sz="2400" b="1" dirty="0">
                <a:solidFill>
                  <a:schemeClr val="bg1"/>
                </a:solidFill>
              </a:rPr>
              <a:t>： </a:t>
            </a:r>
            <a:r>
              <a:rPr lang="en-US" altLang="zh-CN" sz="2400" b="1" dirty="0">
                <a:solidFill>
                  <a:schemeClr val="bg1"/>
                </a:solidFill>
              </a:rPr>
              <a:t>Ruiqi Huang</a:t>
            </a:r>
            <a:r>
              <a:rPr lang="zh-CN" altLang="en-US" sz="2400" b="1" dirty="0">
                <a:solidFill>
                  <a:schemeClr val="bg1"/>
                </a:solidFill>
              </a:rPr>
              <a:t>， </a:t>
            </a:r>
            <a:r>
              <a:rPr lang="en-US" altLang="zh-CN" sz="2400" b="1" dirty="0">
                <a:solidFill>
                  <a:schemeClr val="bg1"/>
                </a:solidFill>
              </a:rPr>
              <a:t>Kedi Li</a:t>
            </a:r>
            <a:r>
              <a:rPr lang="zh-CN" altLang="en-US" sz="2400" b="1" dirty="0">
                <a:solidFill>
                  <a:schemeClr val="bg1"/>
                </a:solidFill>
              </a:rPr>
              <a:t>， </a:t>
            </a:r>
            <a:r>
              <a:rPr lang="en-US" altLang="zh-CN" sz="2400" b="1" dirty="0">
                <a:solidFill>
                  <a:schemeClr val="bg1"/>
                </a:solidFill>
              </a:rPr>
              <a:t>Yuhui Duan</a:t>
            </a:r>
            <a:endParaRPr lang="en-US" altLang="zh-CN" sz="2400" b="1" dirty="0">
              <a:solidFill>
                <a:schemeClr val="bg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269264" y="1386840"/>
            <a:ext cx="894016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altLang="zh-CN" sz="3200" b="1" dirty="0">
                <a:solidFill>
                  <a:srgbClr val="D4AF37"/>
                </a:solidFill>
              </a:rPr>
              <a:t>What Drives a Warming Climate? </a:t>
            </a:r>
            <a:endParaRPr lang="en-GB" altLang="zh-CN" sz="3200" b="1" dirty="0">
              <a:solidFill>
                <a:srgbClr val="D4AF37"/>
              </a:solidFill>
            </a:endParaRPr>
          </a:p>
          <a:p>
            <a:pPr algn="ctr"/>
            <a:r>
              <a:rPr lang="en-GB" altLang="zh-CN" sz="3200" b="1" dirty="0">
                <a:solidFill>
                  <a:srgbClr val="D4AF37"/>
                </a:solidFill>
              </a:rPr>
              <a:t>Exploring the Physical Mechanisms Behind Regional Climate Change</a:t>
            </a:r>
            <a:endParaRPr lang="en-GB" altLang="zh-CN" sz="3200" b="1" dirty="0">
              <a:solidFill>
                <a:srgbClr val="D4AF37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3015161" y="108404"/>
            <a:ext cx="6526258" cy="68661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zh-CN" sz="3200" b="1" dirty="0">
                <a:solidFill>
                  <a:srgbClr val="D4AF37"/>
                </a:solidFill>
              </a:rPr>
              <a:t>Study Area </a:t>
            </a:r>
            <a:r>
              <a:rPr lang="zh-CN" altLang="en-US" sz="3200" b="1" dirty="0">
                <a:solidFill>
                  <a:srgbClr val="D4AF37"/>
                </a:solidFill>
              </a:rPr>
              <a:t>&amp; </a:t>
            </a:r>
            <a:r>
              <a:rPr lang="en-US" altLang="zh-CN" sz="3200" b="1" dirty="0">
                <a:solidFill>
                  <a:srgbClr val="D4AF37"/>
                </a:solidFill>
              </a:rPr>
              <a:t>Research Question</a:t>
            </a:r>
            <a:endParaRPr lang="en-US" altLang="zh-CN" sz="3200" b="1">
              <a:solidFill>
                <a:srgbClr val="FFC000"/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3542" y="962450"/>
            <a:ext cx="5602780" cy="3426001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373808" y="1267569"/>
            <a:ext cx="538416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D4AF37"/>
                </a:solidFill>
              </a:rPr>
              <a:t>The coordinate of study area is </a:t>
            </a:r>
            <a:r>
              <a:rPr lang="en-US" altLang="zh-CN" b="1" dirty="0">
                <a:solidFill>
                  <a:srgbClr val="D4AF37"/>
                </a:solidFill>
              </a:rPr>
              <a:t>53.246</a:t>
            </a:r>
            <a:r>
              <a:rPr lang="en-US" altLang="en-US" b="1" dirty="0">
                <a:solidFill>
                  <a:srgbClr val="D4AF37"/>
                </a:solidFill>
              </a:rPr>
              <a:t>°</a:t>
            </a:r>
            <a:r>
              <a:rPr lang="en-US" altLang="zh-CN" b="1" dirty="0">
                <a:solidFill>
                  <a:srgbClr val="D4AF37"/>
                </a:solidFill>
              </a:rPr>
              <a:t> N, 2.5</a:t>
            </a:r>
            <a:r>
              <a:rPr lang="en-US" altLang="en-US" b="1" dirty="0">
                <a:solidFill>
                  <a:srgbClr val="D4AF37"/>
                </a:solidFill>
              </a:rPr>
              <a:t>°</a:t>
            </a:r>
            <a:r>
              <a:rPr lang="en-US" altLang="zh-CN" b="1" dirty="0">
                <a:solidFill>
                  <a:srgbClr val="D4AF37"/>
                </a:solidFill>
              </a:rPr>
              <a:t> W, </a:t>
            </a:r>
            <a:r>
              <a:rPr lang="en-US" altLang="zh-CN" dirty="0">
                <a:solidFill>
                  <a:srgbClr val="D4AF37"/>
                </a:solidFill>
              </a:rPr>
              <a:t>which are located in </a:t>
            </a:r>
            <a:r>
              <a:rPr lang="en-US" altLang="zh-CN" b="1" dirty="0">
                <a:solidFill>
                  <a:srgbClr val="D4AF37"/>
                </a:solidFill>
              </a:rPr>
              <a:t>Cheshire</a:t>
            </a:r>
            <a:r>
              <a:rPr lang="en-US" altLang="zh-CN" dirty="0">
                <a:solidFill>
                  <a:srgbClr val="D4AF37"/>
                </a:solidFill>
              </a:rPr>
              <a:t>, UK, in northwest England , near Manchester and Liverpool..</a:t>
            </a:r>
            <a:endParaRPr lang="en-US" altLang="zh-CN" dirty="0">
              <a:solidFill>
                <a:srgbClr val="D4AF37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73808" y="2417516"/>
            <a:ext cx="5929744" cy="202285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The region has a typical </a:t>
            </a:r>
            <a:r>
              <a:rPr lang="en-US" altLang="zh-CN" b="1" dirty="0">
                <a:solidFill>
                  <a:schemeClr val="bg1"/>
                </a:solidFill>
              </a:rPr>
              <a:t>temperate maritime climate</a:t>
            </a:r>
            <a:r>
              <a:rPr lang="en-US" altLang="zh-CN" dirty="0">
                <a:solidFill>
                  <a:schemeClr val="bg1"/>
                </a:solidFill>
              </a:rPr>
              <a:t>. 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The climate is mild and humid year-round (</a:t>
            </a:r>
            <a:r>
              <a:rPr lang="en-US" altLang="zh-CN" dirty="0" err="1">
                <a:solidFill>
                  <a:schemeClr val="bg1"/>
                </a:solidFill>
              </a:rPr>
              <a:t>Minobe</a:t>
            </a:r>
            <a:r>
              <a:rPr lang="en-US" altLang="zh-CN" dirty="0">
                <a:solidFill>
                  <a:schemeClr val="bg1"/>
                </a:solidFill>
              </a:rPr>
              <a:t>, </a:t>
            </a:r>
            <a:r>
              <a:rPr lang="en-US" altLang="zh-CN" dirty="0" err="1">
                <a:solidFill>
                  <a:schemeClr val="bg1"/>
                </a:solidFill>
              </a:rPr>
              <a:t>Kuwano</a:t>
            </a:r>
            <a:r>
              <a:rPr lang="en-US" altLang="zh-CN" dirty="0">
                <a:solidFill>
                  <a:schemeClr val="bg1"/>
                </a:solidFill>
              </a:rPr>
              <a:t>-Yoshida et al. 2008, Palter 2015).</a:t>
            </a:r>
            <a:endParaRPr lang="en-US" altLang="zh-CN" dirty="0">
              <a:solidFill>
                <a:schemeClr val="bg1"/>
              </a:solidFill>
            </a:endParaRPr>
          </a:p>
          <a:p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However, the frequence of extreme weathers events are increasing in europe (Weilnhammer, Schmid et al. 2021)</a:t>
            </a:r>
            <a:endParaRPr lang="en-US" altLang="zh-CN" dirty="0">
              <a:solidFill>
                <a:schemeClr val="bg1"/>
              </a:solidFill>
            </a:endParaRPr>
          </a:p>
        </p:txBody>
      </p:sp>
      <p:sp>
        <p:nvSpPr>
          <p:cNvPr id="181" name="圆角矩形 180"/>
          <p:cNvSpPr/>
          <p:nvPr/>
        </p:nvSpPr>
        <p:spPr>
          <a:xfrm>
            <a:off x="522605" y="4947285"/>
            <a:ext cx="11383645" cy="1381760"/>
          </a:xfrm>
          <a:prstGeom prst="roundRect">
            <a:avLst/>
          </a:prstGeom>
          <a:noFill/>
          <a:ln w="19050">
            <a:solidFill>
              <a:schemeClr val="bg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文本框 1"/>
          <p:cNvSpPr txBox="1"/>
          <p:nvPr/>
        </p:nvSpPr>
        <p:spPr>
          <a:xfrm>
            <a:off x="1023739" y="5092228"/>
            <a:ext cx="10509167" cy="9220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</a:rPr>
              <a:t>How does the weather change with time, </a:t>
            </a:r>
            <a:endParaRPr lang="en-US" altLang="zh-CN" sz="3200" b="1" dirty="0">
              <a:solidFill>
                <a:schemeClr val="bg1"/>
              </a:solidFill>
            </a:endParaRPr>
          </a:p>
          <a:p>
            <a:pPr algn="ctr"/>
            <a:r>
              <a:rPr lang="en-US" altLang="zh-CN" sz="3200" b="1" dirty="0">
                <a:solidFill>
                  <a:schemeClr val="bg1"/>
                </a:solidFill>
              </a:rPr>
              <a:t>and their potential controlling factors?</a:t>
            </a:r>
            <a:endParaRPr lang="en-US" altLang="zh-CN" sz="32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Trend Analysis——Temperature Trend &amp; Seasonal Distribution</a:t>
            </a:r>
            <a:endParaRPr lang="en-GB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4051336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01040" y="1125220"/>
            <a:ext cx="3300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Temperature Trend Line Plot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16372" y="1817169"/>
            <a:ext cx="4122539" cy="423551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endParaRPr lang="en-US" altLang="zh-CN" b="1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The data shows a significant upward trend in linear regression.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•  Mean annual temperature: 10–13.5</a:t>
            </a:r>
            <a:r>
              <a:rPr lang="en-US" altLang="en-US" dirty="0">
                <a:solidFill>
                  <a:schemeClr val="bg1"/>
                </a:solidFill>
              </a:rPr>
              <a:t>°</a:t>
            </a:r>
            <a:r>
              <a:rPr lang="en-US" altLang="zh-CN" dirty="0">
                <a:solidFill>
                  <a:schemeClr val="bg1"/>
                </a:solidFill>
              </a:rPr>
              <a:t>C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en-US" altLang="zh-CN" dirty="0">
                <a:solidFill>
                  <a:schemeClr val="bg1"/>
                </a:solidFill>
              </a:rPr>
              <a:t>•  Strong upward trend (R ≈ 0.92)</a:t>
            </a:r>
            <a:br>
              <a:rPr lang="en-US" altLang="zh-CN" dirty="0">
                <a:solidFill>
                  <a:schemeClr val="bg1"/>
                </a:solidFill>
              </a:rPr>
            </a:br>
            <a:r>
              <a:rPr lang="en-US" altLang="zh-CN" dirty="0">
                <a:solidFill>
                  <a:schemeClr val="bg1"/>
                </a:solidFill>
              </a:rPr>
              <a:t>•  Approx. 0.4</a:t>
            </a:r>
            <a:r>
              <a:rPr lang="en-US" altLang="en-US" dirty="0">
                <a:solidFill>
                  <a:schemeClr val="bg1"/>
                </a:solidFill>
              </a:rPr>
              <a:t>°</a:t>
            </a:r>
            <a:r>
              <a:rPr lang="en-US" altLang="zh-CN" dirty="0">
                <a:solidFill>
                  <a:schemeClr val="bg1"/>
                </a:solidFill>
              </a:rPr>
              <a:t>C per decade</a:t>
            </a:r>
            <a:endParaRPr lang="en-US" altLang="zh-CN" dirty="0">
              <a:solidFill>
                <a:schemeClr val="bg1"/>
              </a:solidFill>
            </a:endParaRPr>
          </a:p>
          <a:p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b="1" dirty="0">
                <a:solidFill>
                  <a:schemeClr val="bg1"/>
                </a:solidFill>
              </a:rPr>
              <a:t>Physical significance:</a:t>
            </a:r>
            <a:endParaRPr lang="en-US" altLang="zh-CN" b="1" dirty="0">
              <a:solidFill>
                <a:schemeClr val="bg1"/>
              </a:solidFill>
            </a:endParaRPr>
          </a:p>
          <a:p>
            <a:pPr indent="0">
              <a:buNone/>
            </a:pPr>
            <a:r>
              <a:rPr lang="en-US" altLang="zh-CN" dirty="0">
                <a:solidFill>
                  <a:schemeClr val="bg1"/>
                </a:solidFill>
              </a:rPr>
              <a:t>•  The region is experiencing long-term climate warming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None/>
            </a:pPr>
            <a:r>
              <a:rPr lang="en-US" altLang="zh-CN" dirty="0">
                <a:solidFill>
                  <a:schemeClr val="bg1"/>
                </a:solidFill>
              </a:rPr>
              <a:t>•  Showing the potential influence of greenhouse effect (Manabe 2019).</a:t>
            </a:r>
            <a:endParaRPr lang="en-US" altLang="zh-CN" dirty="0">
              <a:solidFill>
                <a:schemeClr val="bg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50424" y="5924524"/>
            <a:ext cx="5037871" cy="8299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GB" altLang="zh-CN" sz="2400" b="1" dirty="0">
                <a:solidFill>
                  <a:srgbClr val="FFC000"/>
                </a:solidFill>
              </a:rPr>
              <a:t>Clear regional warming signal</a:t>
            </a:r>
            <a:r>
              <a:rPr lang="en-GB" altLang="zh-CN" sz="2400" dirty="0"/>
              <a:t>.</a:t>
            </a:r>
            <a:endParaRPr lang="zh-CN" altLang="en-US" sz="2400" dirty="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38911" y="1125194"/>
            <a:ext cx="7539321" cy="4680000"/>
          </a:xfrm>
          <a:prstGeom prst="rect">
            <a:avLst/>
          </a:prstGeom>
        </p:spPr>
      </p:pic>
      <p:cxnSp>
        <p:nvCxnSpPr>
          <p:cNvPr id="3" name="直接箭头连接符 2"/>
          <p:cNvCxnSpPr/>
          <p:nvPr userDrawn="1"/>
        </p:nvCxnSpPr>
        <p:spPr>
          <a:xfrm flipV="1">
            <a:off x="6406096" y="2328312"/>
            <a:ext cx="3827921" cy="1971579"/>
          </a:xfrm>
          <a:prstGeom prst="straightConnector1">
            <a:avLst/>
          </a:prstGeom>
          <a:ln w="57150">
            <a:solidFill>
              <a:srgbClr val="FFC000">
                <a:alpha val="10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Trend Analysis——Temperature Trend &amp; Seasonal Distribution</a:t>
            </a:r>
            <a:endParaRPr lang="en-GB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3955776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990" y="1087120"/>
            <a:ext cx="4300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Heatmap of Monthly Mean Temperature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01018" y="1931534"/>
            <a:ext cx="4167505" cy="33958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endParaRPr lang="en-US" altLang="zh-CN" b="1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•  In the mid-to-late 21st century, “deep red spots” (extreme high temperatures) frequently appear in summer.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•  The frequency and intensity increase over time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Physical significance:</a:t>
            </a:r>
            <a:endParaRPr lang="en-US" altLang="zh-CN" b="1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•  Non-uniform global warming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•  Regional seasonal climate structures may potentially being reshaped (Qin, Xie et al. 2024).</a:t>
            </a:r>
            <a:endParaRPr lang="en-US" altLang="zh-CN" dirty="0">
              <a:solidFill>
                <a:schemeClr val="bg1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b="1122"/>
          <a:stretch>
            <a:fillRect/>
          </a:stretch>
        </p:blipFill>
        <p:spPr>
          <a:xfrm>
            <a:off x="4804097" y="810000"/>
            <a:ext cx="7387903" cy="6048000"/>
          </a:xfrm>
          <a:prstGeom prst="rect">
            <a:avLst/>
          </a:prstGeom>
        </p:spPr>
      </p:pic>
      <p:cxnSp>
        <p:nvCxnSpPr>
          <p:cNvPr id="2" name="直接箭头连接符 1"/>
          <p:cNvCxnSpPr/>
          <p:nvPr userDrawn="1"/>
        </p:nvCxnSpPr>
        <p:spPr>
          <a:xfrm>
            <a:off x="9886506" y="1794052"/>
            <a:ext cx="0" cy="4202606"/>
          </a:xfrm>
          <a:prstGeom prst="straightConnector1">
            <a:avLst/>
          </a:prstGeom>
          <a:ln w="92075" cmpd="sng">
            <a:solidFill>
              <a:srgbClr val="FF0000">
                <a:alpha val="100000"/>
              </a:srgb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Trend Analysis——</a:t>
            </a:r>
            <a:r>
              <a:rPr lang="en-US" altLang="zh-CN" sz="2800" b="1" dirty="0">
                <a:solidFill>
                  <a:srgbClr val="D4AF37"/>
                </a:solidFill>
              </a:rPr>
              <a:t>Precipitation Trend &amp; Seasonal Distribution</a:t>
            </a:r>
            <a:endParaRPr lang="en-US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0410" y="882650"/>
            <a:ext cx="7539321" cy="4680000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300990" y="1651635"/>
            <a:ext cx="4237990" cy="2834005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01040" y="1125220"/>
            <a:ext cx="3300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Precipitation Trend Line Plot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53695" y="1900555"/>
            <a:ext cx="4185285" cy="26511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r>
              <a:rPr lang="en-US" altLang="zh-CN" dirty="0">
                <a:solidFill>
                  <a:schemeClr val="bg1"/>
                </a:solidFill>
              </a:rPr>
              <a:t> The line shows sharp, jagged oscillations, lacking a smooth, monotonous trend.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Physical significance:</a:t>
            </a:r>
            <a:r>
              <a:rPr lang="en-US" altLang="zh-CN" dirty="0">
                <a:solidFill>
                  <a:schemeClr val="bg1"/>
                </a:solidFill>
              </a:rPr>
              <a:t> This illustrates that precipitation systems exhibit extremely high interannual variability and inherent uncertainty.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Trend Analysis——</a:t>
            </a:r>
            <a:r>
              <a:rPr lang="en-US" altLang="zh-CN" sz="2800" b="1" dirty="0">
                <a:solidFill>
                  <a:srgbClr val="D4AF37"/>
                </a:solidFill>
              </a:rPr>
              <a:t>Precipitation Trend &amp; Seasonal Distribution</a:t>
            </a:r>
            <a:endParaRPr lang="en-US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4067175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990" y="1087120"/>
            <a:ext cx="42373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  <a:sym typeface="+mn-ea"/>
              </a:rPr>
              <a:t>Heatmap of Monthly Total Precipitation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63855" y="1900555"/>
            <a:ext cx="4138930" cy="3477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r>
              <a:rPr lang="en-US" altLang="zh-CN" dirty="0">
                <a:solidFill>
                  <a:schemeClr val="bg1"/>
                </a:solidFill>
              </a:rPr>
              <a:t> Clearly outlines the local precipitation pattern of "more rain in autumn and winter, and relatively less rain in spring and summer".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Physical significance:</a:t>
            </a:r>
            <a:r>
              <a:rPr lang="en-US" altLang="zh-CN" dirty="0">
                <a:solidFill>
                  <a:schemeClr val="bg1"/>
                </a:solidFill>
              </a:rPr>
              <a:t> As shown in the temperature thermogram, the combination of "extreme high temperatures in summer" and "relatively low precipitation" will significantly increase the risk of seasonal drought in the region.</a:t>
            </a:r>
            <a:endParaRPr lang="en-US" altLang="zh-CN" dirty="0">
              <a:solidFill>
                <a:schemeClr val="bg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7290" y="795020"/>
            <a:ext cx="7204710" cy="60496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Trend Analysis——</a:t>
            </a:r>
            <a:r>
              <a:rPr lang="en-US" altLang="zh-CN" sz="2800" b="1" dirty="0">
                <a:solidFill>
                  <a:srgbClr val="D4AF37"/>
                </a:solidFill>
              </a:rPr>
              <a:t>Surface Net Shortwave Radiation Trend (FSNS)</a:t>
            </a:r>
            <a:endParaRPr lang="en-US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3806825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01040" y="1125220"/>
            <a:ext cx="3300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Radiation Trend Line Plot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44805" y="1823720"/>
            <a:ext cx="4205605" cy="3477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r>
              <a:rPr lang="en-US" altLang="zh-CN" dirty="0">
                <a:solidFill>
                  <a:schemeClr val="bg1"/>
                </a:solidFill>
              </a:rPr>
              <a:t> Tracked the changing trajectory of solar energy as it penetrates the atmosphere to reach the Earth's surface.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Physical significance:</a:t>
            </a:r>
            <a:r>
              <a:rPr lang="en-US" altLang="zh-CN" dirty="0">
                <a:solidFill>
                  <a:schemeClr val="bg1"/>
                </a:solidFill>
              </a:rPr>
              <a:t> Fluctuations in radiation are directly affected by local cloud cover and atmospheric transparency, serving as the direct "fuel" and energy source driving abnormal fluctuations in surface temperature.</a:t>
            </a:r>
            <a:endParaRPr lang="en-US" altLang="zh-CN" dirty="0">
              <a:solidFill>
                <a:schemeClr val="bg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2645" y="911860"/>
            <a:ext cx="7539321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D4AF37"/>
                </a:solidFill>
              </a:rPr>
              <a:t>Correlation Analysis</a:t>
            </a:r>
            <a:r>
              <a:rPr lang="en-GB" altLang="zh-CN" sz="2800" b="1" dirty="0">
                <a:solidFill>
                  <a:srgbClr val="D4AF37"/>
                </a:solidFill>
              </a:rPr>
              <a:t>——</a:t>
            </a:r>
            <a:r>
              <a:rPr lang="en-US" altLang="zh-CN" sz="2800" b="1" dirty="0">
                <a:solidFill>
                  <a:srgbClr val="D4AF37"/>
                </a:solidFill>
              </a:rPr>
              <a:t>Correlation Matrix</a:t>
            </a:r>
            <a:endParaRPr lang="en-US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4092575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62050" y="1125220"/>
            <a:ext cx="26098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Correlation Matrix</a:t>
            </a:r>
            <a:endParaRPr lang="en-US" altLang="zh-CN" dirty="0">
              <a:solidFill>
                <a:schemeClr val="bg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01625" y="3013010"/>
            <a:ext cx="4205605" cy="22886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r>
              <a:rPr lang="en-US" altLang="zh-CN" dirty="0">
                <a:solidFill>
                  <a:schemeClr val="bg1"/>
                </a:solidFill>
              </a:rPr>
              <a:t> Surface temperature (TREFHT) shows a strong positive correlation with shortwave radiation (FSNS) and bottom specific moisture (QBOT) (deep red block).</a:t>
            </a:r>
            <a:endParaRPr lang="en-US" altLang="zh-CN" dirty="0">
              <a:solidFill>
                <a:schemeClr val="bg1"/>
              </a:solidFill>
            </a:endParaRPr>
          </a:p>
        </p:txBody>
      </p:sp>
      <p:pic>
        <p:nvPicPr>
          <p:cNvPr id="9" name="Picture 3" descr="5822fec2-22ff-476e-ac55-ef70d265a18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7889" y="901065"/>
            <a:ext cx="6867975" cy="5760000"/>
          </a:xfrm>
          <a:prstGeom prst="rect">
            <a:avLst/>
          </a:prstGeom>
        </p:spPr>
      </p:pic>
      <p:sp>
        <p:nvSpPr>
          <p:cNvPr id="331" name="椭圆 330"/>
          <p:cNvSpPr/>
          <p:nvPr/>
        </p:nvSpPr>
        <p:spPr>
          <a:xfrm rot="19200717">
            <a:off x="5903595" y="1873885"/>
            <a:ext cx="930275" cy="654685"/>
          </a:xfrm>
          <a:prstGeom prst="ellipse">
            <a:avLst/>
          </a:prstGeom>
          <a:noFill/>
          <a:ln w="34925">
            <a:solidFill>
              <a:schemeClr val="tx2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等线" panose="02010600030101010101" pitchFamily="2" charset="-122"/>
            </a:endParaRPr>
          </a:p>
        </p:txBody>
      </p:sp>
      <p:sp>
        <p:nvSpPr>
          <p:cNvPr id="14" name="椭圆 13"/>
          <p:cNvSpPr/>
          <p:nvPr/>
        </p:nvSpPr>
        <p:spPr>
          <a:xfrm rot="19200717">
            <a:off x="5903595" y="3235325"/>
            <a:ext cx="930275" cy="654685"/>
          </a:xfrm>
          <a:prstGeom prst="ellipse">
            <a:avLst/>
          </a:prstGeom>
          <a:noFill/>
          <a:ln w="34925">
            <a:solidFill>
              <a:schemeClr val="tx2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b="1" dirty="0">
              <a:latin typeface="等线" panose="02010600030101010101" pitchFamily="2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D4AF37"/>
                </a:solidFill>
              </a:rPr>
              <a:t>Relationship Analysis</a:t>
            </a:r>
            <a:r>
              <a:rPr lang="en-GB" altLang="zh-CN" sz="2800" b="1" dirty="0">
                <a:solidFill>
                  <a:srgbClr val="D4AF37"/>
                </a:solidFill>
              </a:rPr>
              <a:t>——</a:t>
            </a:r>
            <a:r>
              <a:rPr lang="en-US" altLang="zh-CN" sz="2800" b="1" dirty="0">
                <a:solidFill>
                  <a:srgbClr val="D4AF37"/>
                </a:solidFill>
              </a:rPr>
              <a:t>Temperature–Radiation Relationship</a:t>
            </a:r>
            <a:endParaRPr lang="en-US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3669665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1068" y="1005218"/>
            <a:ext cx="42379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Scatter Regression Plot of Temperature vs. Radiation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01625" y="2259784"/>
            <a:ext cx="4205605" cy="304183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findings:</a:t>
            </a:r>
            <a:r>
              <a:rPr lang="en-US" altLang="zh-CN" dirty="0">
                <a:solidFill>
                  <a:schemeClr val="bg1"/>
                </a:solidFill>
              </a:rPr>
              <a:t> Net shortwave radiation reaching the Earth's surface shows a clear positive linear fit with surface temperature.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dirty="0">
                <a:solidFill>
                  <a:schemeClr val="bg1"/>
                </a:solidFill>
              </a:rPr>
              <a:t>Less cloud → More sunshine → Ground warms up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0410" y="981710"/>
            <a:ext cx="7539321" cy="46800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1336040" y="5733415"/>
            <a:ext cx="9519920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CN" sz="2000" dirty="0">
                <a:solidFill>
                  <a:srgbClr val="FFC000"/>
                </a:solidFill>
              </a:rPr>
              <a:t>The chart reveals the first physical driver of global warming: radiative forcing.</a:t>
            </a:r>
            <a:endParaRPr lang="en-GB" altLang="zh-CN" sz="2000" dirty="0"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126602" y="3597443"/>
            <a:ext cx="139739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245110" y="196850"/>
            <a:ext cx="116928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D4AF37"/>
                </a:solidFill>
              </a:rPr>
              <a:t>Relationship Analysis</a:t>
            </a:r>
            <a:r>
              <a:rPr lang="en-GB" altLang="zh-CN" sz="2800" b="1" dirty="0">
                <a:solidFill>
                  <a:srgbClr val="D4AF37"/>
                </a:solidFill>
              </a:rPr>
              <a:t>——</a:t>
            </a:r>
            <a:r>
              <a:rPr lang="en-US" altLang="zh-CN" sz="2800" b="1" dirty="0">
                <a:solidFill>
                  <a:srgbClr val="D4AF37"/>
                </a:solidFill>
              </a:rPr>
              <a:t>Temperature–QBOT Relationship</a:t>
            </a:r>
            <a:endParaRPr lang="en-US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矩形 28"/>
          <p:cNvSpPr/>
          <p:nvPr/>
        </p:nvSpPr>
        <p:spPr>
          <a:xfrm>
            <a:off x="300990" y="1651635"/>
            <a:ext cx="4237990" cy="3806307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301625" y="1005205"/>
            <a:ext cx="4248785" cy="60896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990" y="986790"/>
            <a:ext cx="42379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Scatter Regression Plot of Temperature vs. Specific Humidity (QBOT)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33375" y="2245153"/>
            <a:ext cx="4205605" cy="297962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Key finding:</a:t>
            </a:r>
            <a:r>
              <a:rPr lang="en-US" altLang="zh-CN" dirty="0">
                <a:solidFill>
                  <a:schemeClr val="bg1"/>
                </a:solidFill>
              </a:rPr>
              <a:t> The actual water content (specific humidity) of the atmosphere shows a very close, synchronous increase with rising temperature.</a:t>
            </a: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endParaRPr lang="en-US" altLang="zh-CN" dirty="0">
              <a:solidFill>
                <a:schemeClr val="bg1"/>
              </a:solidFill>
            </a:endParaRPr>
          </a:p>
          <a:p>
            <a:pPr indent="0">
              <a:buFont typeface="Wingdings" panose="05000000000000000000" charset="0"/>
              <a:buNone/>
            </a:pPr>
            <a:r>
              <a:rPr lang="en-US" altLang="zh-CN" b="1" dirty="0">
                <a:solidFill>
                  <a:schemeClr val="bg1"/>
                </a:solidFill>
              </a:rPr>
              <a:t>Warming → increased water vapor → stronger warming.</a:t>
            </a:r>
            <a:endParaRPr lang="en-US" altLang="zh-CN" dirty="0">
              <a:solidFill>
                <a:schemeClr val="bg1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2078" y="1089000"/>
            <a:ext cx="7529922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3322955" y="196850"/>
            <a:ext cx="55060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D4AF37"/>
                </a:solidFill>
              </a:rPr>
              <a:t>Conclusions and Key Findings</a:t>
            </a:r>
            <a:endParaRPr lang="en-US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>
            <p:custDataLst>
              <p:tags r:id="rId1"/>
            </p:custDataLst>
          </p:nvPr>
        </p:nvSpPr>
        <p:spPr>
          <a:xfrm>
            <a:off x="4301490" y="1242695"/>
            <a:ext cx="7604125" cy="107505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9" name="矩形 8"/>
          <p:cNvSpPr/>
          <p:nvPr>
            <p:custDataLst>
              <p:tags r:id="rId2"/>
            </p:custDataLst>
          </p:nvPr>
        </p:nvSpPr>
        <p:spPr>
          <a:xfrm>
            <a:off x="449580" y="1242695"/>
            <a:ext cx="3672840" cy="1075055"/>
          </a:xfrm>
          <a:prstGeom prst="rect">
            <a:avLst/>
          </a:prstGeom>
          <a:noFill/>
          <a:ln w="2222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>
                <a:solidFill>
                  <a:schemeClr val="bg1"/>
                </a:solidFill>
              </a:rPr>
              <a:t>Evolution of the phenomenon: Warming and hydrological extremes</a:t>
            </a:r>
            <a:endParaRPr kumimoji="1" lang="en-US" altLang="zh-CN" b="1" dirty="0">
              <a:solidFill>
                <a:schemeClr val="bg1"/>
              </a:solidFill>
            </a:endParaRPr>
          </a:p>
        </p:txBody>
      </p:sp>
      <p:sp>
        <p:nvSpPr>
          <p:cNvPr id="206" name="椭圆 205"/>
          <p:cNvSpPr/>
          <p:nvPr>
            <p:custDataLst>
              <p:tags r:id="rId3"/>
            </p:custDataLst>
          </p:nvPr>
        </p:nvSpPr>
        <p:spPr>
          <a:xfrm>
            <a:off x="307857" y="1082874"/>
            <a:ext cx="352926" cy="352926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bg1"/>
                </a:solidFill>
              </a:rPr>
              <a:t>A</a:t>
            </a:r>
            <a:endParaRPr kumimoji="1"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/>
          <p:nvPr>
            <p:custDataLst>
              <p:tags r:id="rId4"/>
            </p:custDataLst>
          </p:nvPr>
        </p:nvSpPr>
        <p:spPr>
          <a:xfrm>
            <a:off x="4339448" y="1318895"/>
            <a:ext cx="740664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Summer mean temperatures show a significant upward trend, while precipitation does not exhibit a statistically significant long-term change but displays notable interannual variability.</a:t>
            </a:r>
            <a:endParaRPr lang="en-US" altLang="zh-CN" dirty="0"/>
          </a:p>
        </p:txBody>
      </p:sp>
      <p:sp>
        <p:nvSpPr>
          <p:cNvPr id="12" name="矩形 11"/>
          <p:cNvSpPr/>
          <p:nvPr>
            <p:custDataLst>
              <p:tags r:id="rId5"/>
            </p:custDataLst>
          </p:nvPr>
        </p:nvSpPr>
        <p:spPr>
          <a:xfrm>
            <a:off x="4280018" y="2523621"/>
            <a:ext cx="7604125" cy="107505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4" name="矩形 13"/>
          <p:cNvSpPr/>
          <p:nvPr>
            <p:custDataLst>
              <p:tags r:id="rId6"/>
            </p:custDataLst>
          </p:nvPr>
        </p:nvSpPr>
        <p:spPr>
          <a:xfrm>
            <a:off x="449580" y="2538095"/>
            <a:ext cx="3672840" cy="1075055"/>
          </a:xfrm>
          <a:prstGeom prst="rect">
            <a:avLst/>
          </a:prstGeom>
          <a:noFill/>
          <a:ln w="2222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>
                <a:solidFill>
                  <a:schemeClr val="bg1"/>
                </a:solidFill>
              </a:rPr>
              <a:t>Core Driver: Radiative Forcing</a:t>
            </a:r>
            <a:endParaRPr kumimoji="1" lang="en-US" altLang="zh-CN" b="1" dirty="0">
              <a:solidFill>
                <a:schemeClr val="bg1"/>
              </a:solidFill>
            </a:endParaRPr>
          </a:p>
        </p:txBody>
      </p:sp>
      <p:sp>
        <p:nvSpPr>
          <p:cNvPr id="15" name="椭圆 14"/>
          <p:cNvSpPr/>
          <p:nvPr>
            <p:custDataLst>
              <p:tags r:id="rId7"/>
            </p:custDataLst>
          </p:nvPr>
        </p:nvSpPr>
        <p:spPr>
          <a:xfrm>
            <a:off x="307857" y="2378274"/>
            <a:ext cx="352926" cy="352926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bg1"/>
                </a:solidFill>
              </a:rPr>
              <a:t>B</a:t>
            </a:r>
            <a:endParaRPr kumimoji="1" lang="en-US" altLang="zh-CN" dirty="0">
              <a:solidFill>
                <a:schemeClr val="bg1"/>
              </a:solidFill>
            </a:endParaRPr>
          </a:p>
        </p:txBody>
      </p:sp>
      <p:sp>
        <p:nvSpPr>
          <p:cNvPr id="16" name="文本框 15"/>
          <p:cNvSpPr txBox="1"/>
          <p:nvPr>
            <p:custDataLst>
              <p:tags r:id="rId8"/>
            </p:custDataLst>
          </p:nvPr>
        </p:nvSpPr>
        <p:spPr>
          <a:xfrm>
            <a:off x="4310874" y="2577871"/>
            <a:ext cx="75424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Enhanced net downward shortwave surface flux, largely controlled by atmospheric (cloud) variations, contributes to regional anomalous warming.(Loeb, Wang et al. 2019).</a:t>
            </a:r>
            <a:endParaRPr lang="en-US" altLang="zh-CN" dirty="0"/>
          </a:p>
        </p:txBody>
      </p:sp>
      <p:sp>
        <p:nvSpPr>
          <p:cNvPr id="17" name="矩形 16"/>
          <p:cNvSpPr/>
          <p:nvPr>
            <p:custDataLst>
              <p:tags r:id="rId9"/>
            </p:custDataLst>
          </p:nvPr>
        </p:nvSpPr>
        <p:spPr>
          <a:xfrm>
            <a:off x="4301171" y="3789812"/>
            <a:ext cx="7604125" cy="107505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8" name="矩形 17"/>
          <p:cNvSpPr/>
          <p:nvPr>
            <p:custDataLst>
              <p:tags r:id="rId10"/>
            </p:custDataLst>
          </p:nvPr>
        </p:nvSpPr>
        <p:spPr>
          <a:xfrm>
            <a:off x="449580" y="3773170"/>
            <a:ext cx="3672840" cy="1075055"/>
          </a:xfrm>
          <a:prstGeom prst="rect">
            <a:avLst/>
          </a:prstGeom>
          <a:noFill/>
          <a:ln w="2222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>
                <a:solidFill>
                  <a:schemeClr val="bg1"/>
                </a:solidFill>
              </a:rPr>
              <a:t>Mechanism Scale-Up: Thermodynamic Feedback</a:t>
            </a:r>
            <a:endParaRPr kumimoji="1" lang="en-US" altLang="zh-CN" b="1" dirty="0">
              <a:solidFill>
                <a:schemeClr val="bg1"/>
              </a:solidFill>
            </a:endParaRPr>
          </a:p>
        </p:txBody>
      </p:sp>
      <p:sp>
        <p:nvSpPr>
          <p:cNvPr id="19" name="椭圆 18"/>
          <p:cNvSpPr/>
          <p:nvPr>
            <p:custDataLst>
              <p:tags r:id="rId11"/>
            </p:custDataLst>
          </p:nvPr>
        </p:nvSpPr>
        <p:spPr>
          <a:xfrm>
            <a:off x="307857" y="3613349"/>
            <a:ext cx="352926" cy="352926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bg1"/>
                </a:solidFill>
              </a:rPr>
              <a:t>C</a:t>
            </a:r>
            <a:endParaRPr kumimoji="1" lang="en-US" altLang="zh-CN" dirty="0">
              <a:solidFill>
                <a:schemeClr val="bg1"/>
              </a:solidFill>
            </a:endParaRPr>
          </a:p>
        </p:txBody>
      </p:sp>
      <p:sp>
        <p:nvSpPr>
          <p:cNvPr id="20" name="文本框 19"/>
          <p:cNvSpPr txBox="1"/>
          <p:nvPr>
            <p:custDataLst>
              <p:tags r:id="rId12"/>
            </p:custDataLst>
          </p:nvPr>
        </p:nvSpPr>
        <p:spPr>
          <a:xfrm>
            <a:off x="4310874" y="3825200"/>
            <a:ext cx="76705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This illustrates the Clausius-Clapeyron effect: rising temperatures force the atmosphere to absorb more water vapor, which in turn locks in more heat (Pall, Allen et al. 2007, O</a:t>
            </a:r>
            <a:r>
              <a:rPr lang="zh-CN" altLang="zh-CN" dirty="0"/>
              <a:t>’</a:t>
            </a:r>
            <a:r>
              <a:rPr lang="en-US" altLang="zh-CN" dirty="0"/>
              <a:t>Gorman and Muller 2010).</a:t>
            </a:r>
            <a:endParaRPr lang="en-US" altLang="zh-CN" dirty="0"/>
          </a:p>
        </p:txBody>
      </p:sp>
      <p:sp>
        <p:nvSpPr>
          <p:cNvPr id="21" name="矩形 20"/>
          <p:cNvSpPr/>
          <p:nvPr>
            <p:custDataLst>
              <p:tags r:id="rId13"/>
            </p:custDataLst>
          </p:nvPr>
        </p:nvSpPr>
        <p:spPr>
          <a:xfrm>
            <a:off x="4301490" y="5008245"/>
            <a:ext cx="7604125" cy="107505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2" name="矩形 21"/>
          <p:cNvSpPr/>
          <p:nvPr>
            <p:custDataLst>
              <p:tags r:id="rId14"/>
            </p:custDataLst>
          </p:nvPr>
        </p:nvSpPr>
        <p:spPr>
          <a:xfrm>
            <a:off x="449580" y="5008245"/>
            <a:ext cx="3672840" cy="1075055"/>
          </a:xfrm>
          <a:prstGeom prst="rect">
            <a:avLst/>
          </a:prstGeom>
          <a:noFill/>
          <a:ln w="2222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>
                <a:solidFill>
                  <a:schemeClr val="bg1"/>
                </a:solidFill>
              </a:rPr>
              <a:t>Final Conclusion: The New Normal of Climate Change</a:t>
            </a:r>
            <a:endParaRPr kumimoji="1" lang="en-US" altLang="zh-CN" b="1" dirty="0">
              <a:solidFill>
                <a:schemeClr val="bg1"/>
              </a:solidFill>
            </a:endParaRPr>
          </a:p>
        </p:txBody>
      </p:sp>
      <p:sp>
        <p:nvSpPr>
          <p:cNvPr id="23" name="椭圆 22"/>
          <p:cNvSpPr/>
          <p:nvPr>
            <p:custDataLst>
              <p:tags r:id="rId15"/>
            </p:custDataLst>
          </p:nvPr>
        </p:nvSpPr>
        <p:spPr>
          <a:xfrm>
            <a:off x="307857" y="4848424"/>
            <a:ext cx="352926" cy="352926"/>
          </a:xfrm>
          <a:prstGeom prst="ellipse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bg1"/>
                </a:solidFill>
              </a:rPr>
              <a:t>D</a:t>
            </a:r>
            <a:endParaRPr kumimoji="1" lang="en-US" altLang="zh-CN" dirty="0">
              <a:solidFill>
                <a:schemeClr val="bg1"/>
              </a:solidFill>
            </a:endParaRPr>
          </a:p>
        </p:txBody>
      </p:sp>
      <p:sp>
        <p:nvSpPr>
          <p:cNvPr id="24" name="文本框 23"/>
          <p:cNvSpPr txBox="1"/>
          <p:nvPr>
            <p:custDataLst>
              <p:tags r:id="rId16"/>
            </p:custDataLst>
          </p:nvPr>
        </p:nvSpPr>
        <p:spPr>
          <a:xfrm>
            <a:off x="4339448" y="5050980"/>
            <a:ext cx="740664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Driven by rigorous thermodynamics, the region is irreversibly moving toward a high-energy climate state characterized by warmer, wetter, and more extreme fluctuations.</a:t>
            </a:r>
            <a:endParaRPr lang="en-US" altLang="zh-CN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5077532" y="196031"/>
            <a:ext cx="1996296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rgbClr val="D4AF37"/>
                </a:solidFill>
              </a:rPr>
              <a:t>Reference</a:t>
            </a:r>
            <a:endParaRPr lang="en-US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文本框 5"/>
          <p:cNvSpPr txBox="1"/>
          <p:nvPr/>
        </p:nvSpPr>
        <p:spPr>
          <a:xfrm>
            <a:off x="1618766" y="978754"/>
            <a:ext cx="8913694" cy="5631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sz="1800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Loeb, N. G., et al. (2019). "Decomposing shortwave top-of-atmosphere and surface radiative flux variations in terms of surface and atmospheric contributions." </a:t>
            </a:r>
            <a:r>
              <a:rPr lang="en-US" altLang="zh-CN" sz="1800" u="sng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Journal of Climate</a:t>
            </a:r>
            <a:r>
              <a:rPr lang="en-US" altLang="zh-CN" sz="1800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b="1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32</a:t>
            </a:r>
            <a:r>
              <a:rPr lang="en-US" altLang="zh-CN" sz="1800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(16): 5003-5019.</a:t>
            </a:r>
            <a:endParaRPr lang="en-US" altLang="zh-CN" sz="1800" dirty="0">
              <a:solidFill>
                <a:schemeClr val="bg1"/>
              </a:solidFill>
              <a:effectLst/>
              <a:latin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AutoNum type="arabicPeriod"/>
            </a:pPr>
            <a:r>
              <a:rPr lang="en-US" altLang="zh-CN" sz="1800" dirty="0">
                <a:solidFill>
                  <a:schemeClr val="bg1"/>
                </a:solidFill>
                <a:effectLst/>
                <a:latin typeface="等线" panose="02010600030101010101" pitchFamily="2" charset="-122"/>
                <a:cs typeface="Times New Roman" panose="02020603050405020304" pitchFamily="18" charset="0"/>
              </a:rPr>
              <a:t>Manabe, S. (2019). "Role of greenhouse gas in climate change." Tellus A: Dynamic Meteorology and Oceanography 71(1): 1620078.</a:t>
            </a:r>
            <a:endParaRPr lang="en-US" altLang="zh-CN" sz="1800" dirty="0">
              <a:solidFill>
                <a:schemeClr val="bg1"/>
              </a:solidFill>
              <a:effectLst/>
              <a:latin typeface="等线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AutoNum type="arabicPeriod"/>
            </a:pPr>
            <a:r>
              <a:rPr lang="en-US" altLang="zh-CN" dirty="0" err="1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Minobe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, S., et al. (2008). "Influence of the Gulf Stream on the troposphere." </a:t>
            </a:r>
            <a:r>
              <a:rPr lang="en-US" altLang="zh-CN" u="sng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Nature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452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(7184): 206-209.</a:t>
            </a:r>
            <a:endParaRPr lang="zh-CN" altLang="zh-CN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O</a:t>
            </a:r>
            <a:r>
              <a:rPr lang="zh-CN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’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Gorman, P. A. and C. J. Muller (2010). "How closely do changes in surface and column water vapor follow Clausius</a:t>
            </a:r>
            <a:r>
              <a:rPr lang="zh-CN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–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Clapeyron scaling in climate change simulations?" </a:t>
            </a:r>
            <a:r>
              <a:rPr lang="en-US" altLang="zh-CN" u="sng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Environmental Research Letters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5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(2): 025207.</a:t>
            </a:r>
            <a:endParaRPr lang="zh-CN" altLang="zh-CN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Pall, P., et al. (2007). "Testing the Clausius</a:t>
            </a:r>
            <a:r>
              <a:rPr lang="zh-CN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–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Clapeyron constraint on changes in extreme precipitation under CO2 warming." </a:t>
            </a:r>
            <a:r>
              <a:rPr lang="en-US" altLang="zh-CN" u="sng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Climate Dynamics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28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(4): 351-363.</a:t>
            </a:r>
            <a:endParaRPr lang="en-US" altLang="zh-CN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Palter, J. B. (2015). "The role of the Gulf Stream in European climate." </a:t>
            </a:r>
            <a:r>
              <a:rPr lang="en-US" altLang="zh-CN" u="sng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Annual review of marine science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7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(1): 113-137.</a:t>
            </a:r>
            <a:endParaRPr lang="en-US" altLang="zh-CN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Qin, P., et al. (2024). "Characteristics of population exposure to climate extremes from regional to global 1.5</a:t>
            </a:r>
            <a:r>
              <a:rPr lang="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°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C and 2.0</a:t>
            </a:r>
            <a:r>
              <a:rPr lang="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°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C warming in CMIP6 models." Environmental Research Letters 19(1): 014018.</a:t>
            </a:r>
            <a:endParaRPr lang="en-US" altLang="zh-CN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Weilnhammer, V., et al. (2021). "Extreme weather events in europe and their health consequences–A systematic review." International Journal of Hygiene and Environmental Health 233: 113688.</a:t>
            </a:r>
            <a:endParaRPr lang="en-US" altLang="zh-CN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3411447" y="221215"/>
            <a:ext cx="5162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zh-CN" sz="2800" b="1" dirty="0">
                <a:solidFill>
                  <a:srgbClr val="D4AF37"/>
                </a:solidFill>
              </a:rPr>
              <a:t>Team Task Distribution Table</a:t>
            </a:r>
            <a:endParaRPr lang="en-US" altLang="zh-CN" sz="2800" b="1" dirty="0">
              <a:solidFill>
                <a:srgbClr val="D4AF37"/>
              </a:solidFill>
            </a:endParaRPr>
          </a:p>
        </p:txBody>
      </p:sp>
      <p:sp>
        <p:nvSpPr>
          <p:cNvPr id="13" name="Rectangle 2"/>
          <p:cNvSpPr/>
          <p:nvPr/>
        </p:nvSpPr>
        <p:spPr>
          <a:xfrm>
            <a:off x="245110" y="718820"/>
            <a:ext cx="11661140" cy="76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" name="表格 2"/>
          <p:cNvGraphicFramePr>
            <a:graphicFrameLocks noGrp="1"/>
          </p:cNvGraphicFramePr>
          <p:nvPr/>
        </p:nvGraphicFramePr>
        <p:xfrm>
          <a:off x="565467" y="1401665"/>
          <a:ext cx="11061065" cy="4428490"/>
        </p:xfrm>
        <a:graphic>
          <a:graphicData uri="http://schemas.openxmlformats.org/drawingml/2006/table">
            <a:tbl>
              <a:tblPr firstRow="1" bandRow="1">
                <a:tableStyleId>{2D7E745F-D0BE-4AB5-A735-7A81F4BE7858}</a:tableStyleId>
              </a:tblPr>
              <a:tblGrid>
                <a:gridCol w="3001010"/>
                <a:gridCol w="2019935"/>
                <a:gridCol w="6040120"/>
              </a:tblGrid>
              <a:tr h="864870"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800" u="none" strike="noStrike" spc="130" dirty="0">
                          <a:solidFill>
                            <a:schemeClr val="tx1"/>
                          </a:solidFill>
                          <a:effectLst/>
                        </a:rPr>
                        <a:t>Group members</a:t>
                      </a:r>
                      <a:endParaRPr lang="en-US" sz="1800" u="none" strike="noStrike" spc="13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800" u="none" strike="noStrike" spc="130" dirty="0">
                          <a:solidFill>
                            <a:schemeClr val="tx1"/>
                          </a:solidFill>
                          <a:effectLst/>
                        </a:rPr>
                        <a:t>Student ID</a:t>
                      </a:r>
                      <a:endParaRPr lang="en-US" sz="1800" u="none" strike="noStrike" spc="13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800" u="none" strike="noStrike" spc="130" dirty="0">
                          <a:solidFill>
                            <a:schemeClr val="tx1"/>
                          </a:solidFill>
                          <a:effectLst/>
                        </a:rPr>
                        <a:t>Main responsibilities</a:t>
                      </a:r>
                      <a:endParaRPr lang="en-US" sz="1800" u="none" strike="noStrike" spc="13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54000" marR="254000" marT="177800" marB="177800" anchor="ctr"/>
                </a:tc>
              </a:tr>
              <a:tr h="1188085"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Ruiqi Huang</a:t>
                      </a:r>
                      <a:endParaRPr lang="en-GB" sz="1600" u="none" strike="noStrike">
                        <a:effectLst/>
                      </a:endParaRP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1600" u="none" strike="noStrike" dirty="0">
                          <a:effectLst/>
                        </a:rPr>
                        <a:t>14180111</a:t>
                      </a:r>
                      <a:endParaRPr lang="en-US" altLang="zh-CN" sz="1600" u="none" strike="noStrike" dirty="0">
                        <a:effectLst/>
                      </a:endParaRP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Drawing annual trend charts and scatter plots, integrating code, writing README, and creating PPT presentations.</a:t>
                      </a:r>
                      <a:endParaRPr lang="en-US" sz="1600" u="none" strike="noStrike" dirty="0">
                        <a:effectLst/>
                      </a:endParaRPr>
                    </a:p>
                  </a:txBody>
                  <a:tcPr marL="254000" marR="254000" marT="177800" marB="177800" anchor="ctr"/>
                </a:tc>
              </a:tr>
              <a:tr h="1187450"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Kedi Li</a:t>
                      </a:r>
                      <a:endParaRPr lang="en-GB" sz="1600" u="none" strike="noStrike">
                        <a:effectLst/>
                      </a:endParaRP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1600">
                          <a:effectLst/>
                        </a:rPr>
                        <a:t>14200199</a:t>
                      </a:r>
                      <a:endParaRPr lang="zh-CN" altLang="en-US" sz="1600" u="none" strike="noStrike">
                        <a:effectLst/>
                      </a:endParaRP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Creating monthly average trend charts (Heatmap) and </a:t>
                      </a:r>
                      <a:r>
                        <a:rPr lang="en-US" sz="1600" dirty="0">
                          <a:effectLst/>
                        </a:rPr>
                        <a:t>creating</a:t>
                      </a:r>
                      <a:r>
                        <a:rPr lang="en-US" sz="1600" u="none" strike="noStrike" dirty="0">
                          <a:effectLst/>
                        </a:rPr>
                        <a:t> a PowerPoint presentation.</a:t>
                      </a:r>
                      <a:endParaRPr lang="en-US" sz="1600" u="none" strike="noStrike" dirty="0">
                        <a:effectLst/>
                      </a:endParaRPr>
                    </a:p>
                  </a:txBody>
                  <a:tcPr marL="254000" marR="254000" marT="177800" marB="177800" anchor="ctr"/>
                </a:tc>
              </a:tr>
              <a:tr h="1188085"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GB" sz="1600" u="none" strike="noStrike">
                          <a:effectLst/>
                        </a:rPr>
                        <a:t>Yuhui Duan</a:t>
                      </a:r>
                      <a:endParaRPr lang="en-GB" sz="1600" u="none" strike="noStrike">
                        <a:effectLst/>
                      </a:endParaRP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1600" u="none" strike="noStrike">
                          <a:effectLst/>
                        </a:rPr>
                        <a:t>14219275</a:t>
                      </a:r>
                      <a:endParaRPr lang="zh-CN" altLang="en-US" sz="1600" u="none" strike="noStrike">
                        <a:effectLst/>
                      </a:endParaRPr>
                    </a:p>
                  </a:txBody>
                  <a:tcPr marL="254000" marR="254000" marT="177800" marB="177800" anchor="ctr"/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20000"/>
                        </a:lnSpc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Drawing a correlation matrix and creating a PowerPoint presentation.</a:t>
                      </a:r>
                      <a:endParaRPr lang="en-US" sz="1600" u="none" strike="noStrike" dirty="0">
                        <a:effectLst/>
                      </a:endParaRPr>
                    </a:p>
                  </a:txBody>
                  <a:tcPr marL="254000" marR="254000" marT="177800" marB="177800" anchor="ctr"/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2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3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4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5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6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7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8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9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0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1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2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3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4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5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16.xml><?xml version="1.0" encoding="utf-8"?>
<p:tagLst xmlns:p="http://schemas.openxmlformats.org/presentationml/2006/main">
  <p:tag name="KSO_WM_DIAGRAM_VIRTUALLY_FRAME" val="{&quot;height&quot;:393.7343307086614,&quot;left&quot;:24.240708661417287,&quot;top&quot;:85.26566929133858,&quot;width&quot;:916.8092913385826}"/>
</p:tagLst>
</file>

<file path=ppt/tags/tag20.xml><?xml version="1.0" encoding="utf-8"?>
<p:tagLst xmlns:p="http://schemas.openxmlformats.org/presentationml/2006/main">
  <p:tag name="RESOURCE_RECORD_KEY" val="{&quot;29&quot;:[50052409,50000047,50000097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ct:contentTypeSchema xmlns:ct="http://schemas.microsoft.com/office/2006/metadata/contentType" contentTypeVersion="9" _="" contentTypeDescription="Create a new document." contentTypeScope="" contentTypeID="0x010100F1D26F62E5C4DC4D98FAB396728BB81D" versionID="1f03f48f6527d541a3b18ac4739cc1f0" contentTypeName="Document">
  <xsd:schema xmlns:xsd="http://www.w3.org/2001/XMLSchema" root="true" _="" targetNamespace="http://schemas.microsoft.com/office/2006/metadata/properties" fieldsID="a7f4b56daed70b72f0fb16df63363826">
    <xsd:import xmlns:xsd="http://www.w3.org/2001/XMLSchema" namespace="982514d0-1baf-4113-b1b0-77e0727f613a"/>
    <xsd:element xmlns:xsd="http://www.w3.org/2001/XMLSchema" name="properties">
      <xsd:complexType xmlns:xsd="http://www.w3.org/2001/XMLSchema">
        <xsd:sequence xmlns:xsd="http://www.w3.org/2001/XMLSchema">
          <xsd:element xmlns:xsd="http://www.w3.org/2001/XMLSchema" name="documentManagement">
            <xsd:complexType xmlns:xsd="http://www.w3.org/2001/XMLSchema">
              <xsd:all xmlns:xsd="http://www.w3.org/2001/XMLSchema">
                <xsd:element xmlns:xsd="http://www.w3.org/2001/XMLSchema" minOccurs="0" ref="ns3:MediaServiceDateTaken"/>
                <xsd:element xmlns:xsd="http://www.w3.org/2001/XMLSchema" minOccurs="0" ref="ns3:_activity"/>
                <xsd:element xmlns:xsd="http://www.w3.org/2001/XMLSchema" minOccurs="0" ref="ns3:MediaServiceMetadata"/>
                <xsd:element xmlns:xsd="http://www.w3.org/2001/XMLSchema" minOccurs="0" ref="ns3:MediaServiceFastMetadata"/>
                <xsd:element xmlns:xsd="http://www.w3.org/2001/XMLSchema" minOccurs="0" ref="ns3:MediaServiceSearchProperties"/>
                <xsd:element xmlns:xsd="http://www.w3.org/2001/XMLSchema" minOccurs="0" ref="ns3:MediaServiceSystemTags"/>
                <xsd:element xmlns:xsd="http://www.w3.org/2001/XMLSchema" minOccurs="0" ref="ns3:MediaServiceOCR"/>
                <xsd:element xmlns:xsd="http://www.w3.org/2001/XMLSchema" minOccurs="0" ref="ns3:MediaServiceGenerationTime"/>
                <xsd:element xmlns:xsd="http://www.w3.org/2001/XMLSchema" minOccurs="0" ref="ns3:MediaServiceEventHashCode"/>
              </xsd:all>
            </xsd:complexType>
          </xsd:element>
        </xsd:sequence>
      </xsd:complexType>
    </xsd:element>
  </xsd:schema>
  <xsd:schema xmlns:xsd="http://www.w3.org/2001/XMLSchema" targetNamespace="982514d0-1baf-4113-b1b0-77e0727f613a" elementFormDefault="qualified">
    <xsd:import xmlns:xsd="http://www.w3.org/2001/XMLSchema" namespace="http://schemas.microsoft.com/office/2006/documentManagement/types"/>
    <xsd:import xmlns:xsd="http://www.w3.org/2001/XMLSchema" namespace="http://schemas.microsoft.com/office/infopath/2007/PartnerControls"/>
    <xsd:element xmlns:xsd="http://www.w3.org/2001/XMLSchema" xmlns:ma="http://schemas.microsoft.com/office/2006/metadata/properties/metaAttributes" ma:indexed="true" name="MediaServiceDateTaken" ma:internalName="MediaServiceDateTaken" ma:index="8" nillable="true" displayName="MediaServiceDateTaken" hidden="true" ma:readOnly="true">
      <xsd:simpleType xmlns:xsd="http://www.w3.org/2001/XMLSchema">
        <xsd:restriction xmlns:xsd="http://www.w3.org/2001/XMLSchema" base="dms:Text"/>
      </xsd:simpleType>
    </xsd:element>
    <xsd:element xmlns:xsd="http://www.w3.org/2001/XMLSchema" xmlns:ma="http://schemas.microsoft.com/office/2006/metadata/properties/metaAttributes" name="_activity" ma:internalName="_activity" ma:index="9" nillable="true" displayName="_activity" hidden="true">
      <xsd:simpleType xmlns:xsd="http://www.w3.org/2001/XMLSchema">
        <xsd:restriction xmlns:xsd="http://www.w3.org/2001/XMLSchema" base="dms:Note"/>
      </xsd:simpleType>
    </xsd:element>
    <xsd:element xmlns:xsd="http://www.w3.org/2001/XMLSchema" xmlns:ma="http://schemas.microsoft.com/office/2006/metadata/properties/metaAttributes" name="MediaServiceMetadata" ma:internalName="MediaServiceMetadata" ma:index="10" nillable="true" displayName="MediaServiceMetadata" hidden="true" ma:readOnly="true">
      <xsd:simpleType xmlns:xsd="http://www.w3.org/2001/XMLSchema">
        <xsd:restriction xmlns:xsd="http://www.w3.org/2001/XMLSchema" base="dms:Note"/>
      </xsd:simpleType>
    </xsd:element>
    <xsd:element xmlns:xsd="http://www.w3.org/2001/XMLSchema" xmlns:ma="http://schemas.microsoft.com/office/2006/metadata/properties/metaAttributes" name="MediaServiceFastMetadata" ma:internalName="MediaServiceFastMetadata" ma:index="11" nillable="true" displayName="MediaServiceFastMetadata" hidden="true" ma:readOnly="true">
      <xsd:simpleType xmlns:xsd="http://www.w3.org/2001/XMLSchema">
        <xsd:restriction xmlns:xsd="http://www.w3.org/2001/XMLSchema" base="dms:Note"/>
      </xsd:simpleType>
    </xsd:element>
    <xsd:element xmlns:xsd="http://www.w3.org/2001/XMLSchema" xmlns:ma="http://schemas.microsoft.com/office/2006/metadata/properties/metaAttributes" name="MediaServiceSearchProperties" ma:internalName="MediaServiceSearchProperties" ma:index="12" nillable="true" displayName="MediaServiceSearchProperties" hidden="true" ma:readOnly="true">
      <xsd:simpleType xmlns:xsd="http://www.w3.org/2001/XMLSchema">
        <xsd:restriction xmlns:xsd="http://www.w3.org/2001/XMLSchema" base="dms:Note"/>
      </xsd:simpleType>
    </xsd:element>
    <xsd:element xmlns:xsd="http://www.w3.org/2001/XMLSchema" xmlns:ma="http://schemas.microsoft.com/office/2006/metadata/properties/metaAttributes" name="MediaServiceSystemTags" ma:internalName="MediaServiceSystemTags" ma:index="13" nillable="true" displayName="MediaServiceSystemTags" hidden="true" ma:readOnly="true">
      <xsd:simpleType xmlns:xsd="http://www.w3.org/2001/XMLSchema">
        <xsd:restriction xmlns:xsd="http://www.w3.org/2001/XMLSchema" base="dms:Note"/>
      </xsd:simpleType>
    </xsd:element>
    <xsd:element xmlns:xsd="http://www.w3.org/2001/XMLSchema" xmlns:ma="http://schemas.microsoft.com/office/2006/metadata/properties/metaAttributes" name="MediaServiceOCR" ma:internalName="MediaServiceOCR" index="14" nillable="true" displayName="Extracted Text" ma:readOnly="true">
      <xsd:simpleType xmlns:xsd="http://www.w3.org/2001/XMLSchema">
        <xsd:restriction xmlns:xsd="http://www.w3.org/2001/XMLSchema" base="dms:Note">
          <xsd:maxLength xmlns:xsd="http://www.w3.org/2001/XMLSchema" value="255"/>
        </xsd:restriction>
      </xsd:simpleType>
    </xsd:element>
    <xsd:element xmlns:xsd="http://www.w3.org/2001/XMLSchema" xmlns:ma="http://schemas.microsoft.com/office/2006/metadata/properties/metaAttributes" name="MediaServiceGenerationTime" ma:internalName="MediaServiceGenerationTime" ma:index="15" nillable="true" displayName="MediaServiceGenerationTime" hidden="true" ma:readOnly="true">
      <xsd:simpleType xmlns:xsd="http://www.w3.org/2001/XMLSchema">
        <xsd:restriction xmlns:xsd="http://www.w3.org/2001/XMLSchema" base="dms:Text"/>
      </xsd:simpleType>
    </xsd:element>
    <xsd:element xmlns:xsd="http://www.w3.org/2001/XMLSchema" xmlns:ma="http://schemas.microsoft.com/office/2006/metadata/properties/metaAttributes" name="MediaServiceEventHashCode" ma:internalName="MediaServiceEventHashCode" ma:index="16" nillable="true" displayName="MediaServiceEventHashCode" hidden="true" ma:readOnly="true">
      <xsd:simpleType xmlns:xsd="http://www.w3.org/2001/XMLSchema">
        <xsd:restriction xmlns:xsd="http://www.w3.org/2001/XMLSchema" base="dms:Text"/>
      </xsd:simpleType>
    </xsd:element>
  </xsd:schema>
  <xsd:schema xmlns:xsd="http://www.w3.org/2001/XMLSchema" blockDefault="#all" targetNamespace="http://schemas.openxmlformats.org/package/2006/metadata/core-properties" attributeFormDefault="unqualified" elementFormDefault="qualified">
    <xsd:import xmlns:xsd="http://www.w3.org/2001/XMLSchema" namespace="http://purl.org/dc/elements/1.1/" schemaLocation="http://dublincore.org/schemas/xmls/qdc/2003/04/02/dc.xsd"/>
    <xsd:import xmlns:xsd="http://www.w3.org/2001/XMLSchema" namespace="http://purl.org/dc/terms/" schemaLocation="http://dublincore.org/schemas/xmls/qdc/2003/04/02/dcterms.xsd"/>
    <xsd:element xmlns:xsd="http://www.w3.org/2001/XMLSchema" name="coreProperties" type="CT_coreProperties"/>
    <xsd:complexType xmlns:xsd="http://www.w3.org/2001/XMLSchema" name="CT_coreProperties">
      <xsd:all xmlns:xsd="http://www.w3.org/2001/XMLSchema">
        <xsd:element xmlns:xsd="http://www.w3.org/2001/XMLSchema" maxOccurs="1" minOccurs="0" ref="dc:creator"/>
        <xsd:element xmlns:xsd="http://www.w3.org/2001/XMLSchema" maxOccurs="1" minOccurs="0" ref="dcterms:created"/>
        <xsd:element xmlns:xsd="http://www.w3.org/2001/XMLSchema" maxOccurs="1" minOccurs="0" ref="dc:identifier"/>
        <xsd:element xmlns:xsd="http://www.w3.org/2001/XMLSchema" name="contentType" maxOccurs="1" minOccurs="0" index="0" displayName="Content Type" type="xsd:string"/>
        <xsd:element xmlns:xsd="http://www.w3.org/2001/XMLSchema" maxOccurs="1" minOccurs="0" index="4" displayName="Title" ref="dc:title"/>
        <xsd:element xmlns:xsd="http://www.w3.org/2001/XMLSchema" maxOccurs="1" minOccurs="0" ref="dc:subject"/>
        <xsd:element xmlns:xsd="http://www.w3.org/2001/XMLSchema" maxOccurs="1" minOccurs="0" ref="dc:description"/>
        <xsd:element xmlns:xsd="http://www.w3.org/2001/XMLSchema" name="keywords" maxOccurs="1" minOccurs="0" type="xsd:string"/>
        <xsd:element xmlns:xsd="http://www.w3.org/2001/XMLSchema" maxOccurs="1" minOccurs="0" ref="dc:language"/>
        <xsd:element xmlns:xsd="http://www.w3.org/2001/XMLSchema" name="category" maxOccurs="1" minOccurs="0" type="xsd:string"/>
        <xsd:element xmlns:xsd="http://www.w3.org/2001/XMLSchema" name="version" maxOccurs="1" minOccurs="0" type="xsd:string"/>
        <xsd:element xmlns:xsd="http://www.w3.org/2001/XMLSchema" name="revision" maxOccurs="1" minOccurs="0" type="xsd:string">
          <xsd:annotation xmlns:xsd="http://www.w3.org/2001/XMLSchema">
            <xsd:documentation xmlns:xsd="http://www.w3.org/2001/XMLSchema">
                        This value indicates the number of saves or revisions. The application is responsible for updating this value after each revision.
                    </xsd:documentation>
          </xsd:annotation>
        </xsd:element>
        <xsd:element xmlns:xsd="http://www.w3.org/2001/XMLSchema" name="lastModifiedBy" maxOccurs="1" minOccurs="0" type="xsd:string"/>
        <xsd:element xmlns:xsd="http://www.w3.org/2001/XMLSchema" maxOccurs="1" minOccurs="0" ref="dcterms:modified"/>
        <xsd:element xmlns:xsd="http://www.w3.org/2001/XMLSchema" name="contentStatus" maxOccurs="1" minOccurs="0" type="xsd:string"/>
      </xsd:all>
    </xsd:complexType>
  </xsd:schema>
  <xs:schema xmlns:xs="http://www.w3.org/2001/XMLSchema" targetNamespace="http://schemas.microsoft.com/office/infopath/2007/PartnerControls" attributeFormDefault="unqualified" elementFormDefault="qualified">
    <xs:element xmlns:xs="http://www.w3.org/2001/XMLSchema" name="Person">
      <xs:complexType xmlns:xs="http://www.w3.org/2001/XMLSchema">
        <xs:sequence xmlns:xs="http://www.w3.org/2001/XMLSchema">
          <xs:element xmlns:xs="http://www.w3.org/2001/XMLSchema" minOccurs="0" ref="pc:DisplayName"/>
          <xs:element xmlns:xs="http://www.w3.org/2001/XMLSchema" minOccurs="0" ref="pc:AccountId"/>
          <xs:element xmlns:xs="http://www.w3.org/2001/XMLSchema" minOccurs="0" ref="pc:AccountType"/>
        </xs:sequence>
      </xs:complexType>
    </xs:element>
    <xs:element xmlns:xs="http://www.w3.org/2001/XMLSchema" name="DisplayName" type="xs:string"/>
    <xs:element xmlns:xs="http://www.w3.org/2001/XMLSchema" name="AccountId" type="xs:string"/>
    <xs:element xmlns:xs="http://www.w3.org/2001/XMLSchema" name="AccountType" type="xs:string"/>
    <xs:element xmlns:xs="http://www.w3.org/2001/XMLSchema" name="BDCAssociatedEntity">
      <xs:complexType xmlns:xs="http://www.w3.org/2001/XMLSchema">
        <xs:sequence xmlns:xs="http://www.w3.org/2001/XMLSchema">
          <xs:element xmlns:xs="http://www.w3.org/2001/XMLSchema" maxOccurs="unbounded" minOccurs="0" ref="pc:BDCEntity"/>
        </xs:sequence>
        <xs:attribute xmlns:xs="http://www.w3.org/2001/XMLSchema" ref="pc:EntityNamespace"/>
        <xs:attribute xmlns:xs="http://www.w3.org/2001/XMLSchema" ref="pc:EntityName"/>
        <xs:attribute xmlns:xs="http://www.w3.org/2001/XMLSchema" ref="pc:SystemInstanceName"/>
        <xs:attribute xmlns:xs="http://www.w3.org/2001/XMLSchema" ref="pc:AssociationName"/>
      </xs:complexType>
    </xs:element>
    <xs:attribute xmlns:xs="http://www.w3.org/2001/XMLSchema" name="EntityNamespace" type="xs:string"/>
    <xs:attribute xmlns:xs="http://www.w3.org/2001/XMLSchema" name="EntityName" type="xs:string"/>
    <xs:attribute xmlns:xs="http://www.w3.org/2001/XMLSchema" name="SystemInstanceName" type="xs:string"/>
    <xs:attribute xmlns:xs="http://www.w3.org/2001/XMLSchema" name="AssociationName" type="xs:string"/>
    <xs:element xmlns:xs="http://www.w3.org/2001/XMLSchema" name="BDCEntity">
      <xs:complexType xmlns:xs="http://www.w3.org/2001/XMLSchema">
        <xs:sequence xmlns:xs="http://www.w3.org/2001/XMLSchema">
          <xs:element xmlns:xs="http://www.w3.org/2001/XMLSchema" minOccurs="0" ref="pc:EntityDisplayName"/>
          <xs:element xmlns:xs="http://www.w3.org/2001/XMLSchema" minOccurs="0" ref="pc:EntityInstanceReference"/>
          <xs:element xmlns:xs="http://www.w3.org/2001/XMLSchema" minOccurs="0" ref="pc:EntityId1"/>
          <xs:element xmlns:xs="http://www.w3.org/2001/XMLSchema" minOccurs="0" ref="pc:EntityId2"/>
          <xs:element xmlns:xs="http://www.w3.org/2001/XMLSchema" minOccurs="0" ref="pc:EntityId3"/>
          <xs:element xmlns:xs="http://www.w3.org/2001/XMLSchema" minOccurs="0" ref="pc:EntityId4"/>
          <xs:element xmlns:xs="http://www.w3.org/2001/XMLSchema" minOccurs="0" ref="pc:EntityId5"/>
        </xs:sequence>
      </xs:complexType>
    </xs:element>
    <xs:element xmlns:xs="http://www.w3.org/2001/XMLSchema" name="EntityDisplayName" type="xs:string"/>
    <xs:element xmlns:xs="http://www.w3.org/2001/XMLSchema" name="EntityInstanceReference" type="xs:string"/>
    <xs:element xmlns:xs="http://www.w3.org/2001/XMLSchema" name="EntityId1" type="xs:string"/>
    <xs:element xmlns:xs="http://www.w3.org/2001/XMLSchema" name="EntityId2" type="xs:string"/>
    <xs:element xmlns:xs="http://www.w3.org/2001/XMLSchema" name="EntityId3" type="xs:string"/>
    <xs:element xmlns:xs="http://www.w3.org/2001/XMLSchema" name="EntityId4" type="xs:string"/>
    <xs:element xmlns:xs="http://www.w3.org/2001/XMLSchema" name="EntityId5" type="xs:string"/>
    <xs:element xmlns:xs="http://www.w3.org/2001/XMLSchema" name="Terms">
      <xs:complexType xmlns:xs="http://www.w3.org/2001/XMLSchema">
        <xs:sequence xmlns:xs="http://www.w3.org/2001/XMLSchema">
          <xs:element xmlns:xs="http://www.w3.org/2001/XMLSchema" maxOccurs="unbounded" minOccurs="0" ref="pc:TermInfo"/>
        </xs:sequence>
      </xs:complexType>
    </xs:element>
    <xs:element xmlns:xs="http://www.w3.org/2001/XMLSchema" name="TermInfo">
      <xs:complexType xmlns:xs="http://www.w3.org/2001/XMLSchema">
        <xs:sequence xmlns:xs="http://www.w3.org/2001/XMLSchema">
          <xs:element xmlns:xs="http://www.w3.org/2001/XMLSchema" minOccurs="0" ref="pc:TermName"/>
          <xs:element xmlns:xs="http://www.w3.org/2001/XMLSchema" minOccurs="0" ref="pc:TermId"/>
        </xs:sequence>
      </xs:complexType>
    </xs:element>
    <xs:element xmlns:xs="http://www.w3.org/2001/XMLSchema" name="TermName" type="xs:string"/>
    <xs:element xmlns:xs="http://www.w3.org/2001/XMLSchema" name="TermId" type="xs:string"/>
  </xs:schema>
</ct:contentTypeSchema>
</file>

<file path=customXml/item2.xml><?xml version="1.0" encoding="utf-8"?>
<?mso-contentType ?>
<FormTemplates xmlns="http://schemas.microsoft.com/sharepoint/v3/contenttype/forms">
  <Display xmlns="http://schemas.microsoft.com/sharepoint/v3/contenttype/forms">DocumentLibraryForm</Display>
  <Edit xmlns="http://schemas.microsoft.com/sharepoint/v3/contenttype/forms">DocumentLibraryForm</Edit>
  <New xmlns="http://schemas.microsoft.com/sharepoint/v3/contenttype/forms"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82514d0-1baf-4113-b1b0-77e0727f613a" xmlns:xsi="http://www.w3.org/2001/XMLSchema-instance" xsi:nil="true"/>
  </documentManagement>
</p:properties>
</file>

<file path=customXml/itemProps17.xml><?xml version="1.0" encoding="utf-8"?>
<ds:datastoreItem xmlns:ds="http://schemas.openxmlformats.org/officeDocument/2006/customXml" ds:itemID="{A1A7B617-F2CD-4815-B926-5FA0F78B134C}">
  <ds:schemaRefs/>
</ds:datastoreItem>
</file>

<file path=customXml/itemProps18.xml><?xml version="1.0" encoding="utf-8"?>
<ds:datastoreItem xmlns:ds="http://schemas.openxmlformats.org/officeDocument/2006/customXml" ds:itemID="{3E5767E8-4B42-4CF5-95F1-D93278658697}">
  <ds:schemaRefs/>
</ds:datastoreItem>
</file>

<file path=customXml/itemProps19.xml><?xml version="1.0" encoding="utf-8"?>
<ds:datastoreItem xmlns:ds="http://schemas.openxmlformats.org/officeDocument/2006/customXml" ds:itemID="{70F8125E-4FF0-47B1-BE46-3121B16ECC1B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6276</Words>
  <Application>WPS Office WWO_wpscloud_20260204164529-ac0352cb9e</Application>
  <PresentationFormat>宽屏</PresentationFormat>
  <Paragraphs>161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4" baseType="lpstr">
      <vt:lpstr>Arial</vt:lpstr>
      <vt:lpstr>宋体</vt:lpstr>
      <vt:lpstr>Wingdings</vt:lpstr>
      <vt:lpstr>Arial</vt:lpstr>
      <vt:lpstr>Wingdings</vt:lpstr>
      <vt:lpstr>Kingsoft Confetti</vt:lpstr>
      <vt:lpstr>等线</vt:lpstr>
      <vt:lpstr>汉仪中等线KW</vt:lpstr>
      <vt:lpstr>Times New Roman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Li Kedi</cp:lastModifiedBy>
  <dcterms:created xsi:type="dcterms:W3CDTF">2026-02-22T19:12:14Z</dcterms:created>
  <dcterms:modified xsi:type="dcterms:W3CDTF">2026-02-22T19:12:14Z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0x010100F1D26F62E5C4DC4D98FAB396728BB81D</vt:lpwstr>
  </property>
  <property fmtid="{D5CDD505-2E9C-101B-9397-08002B2CF9AE}" pid="3" name="KSOProductBuildVer">
    <vt:lpwstr>2052-12.9.0.25288</vt:lpwstr>
  </property>
  <property fmtid="{D5CDD505-2E9C-101B-9397-08002B2CF9AE}" pid="4" name="ICV">
    <vt:lpwstr>3A49769166924A929452A80C2DA26531_13</vt:lpwstr>
  </property>
</Properties>
</file>