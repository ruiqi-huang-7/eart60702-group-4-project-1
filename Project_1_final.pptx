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6" r:id="rId7"/>
    <p:sldId id="278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6" r:id="rId16"/>
    <p:sldId id="285" r:id="rId17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3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F37"/>
    <a:srgbClr val="000000"/>
    <a:srgbClr val="FE9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7E745F-D0BE-4AB5-A735-7A81F4BE7858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08080">
              <a:lumMod val="10000"/>
              <a:lumOff val="90000"/>
            </a:srgbClr>
          </a:solidFill>
        </a:fill>
      </a:tcStyle>
    </a:band2H>
    <a:band1V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808080">
              <a:lumMod val="10000"/>
              <a:lumOff val="90000"/>
            </a:srgb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80808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80808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808080"/>
        </a:fontRef>
      </a:tcTxStyle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9525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9525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808080"/>
              </a:solidFill>
              <a:prstDash val="solid"/>
            </a:ln>
          </a:top>
          <a:bottom>
            <a:ln w="12700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808080"/>
        </a:fontRef>
      </a:tcTxStyle>
      <a:tcStyle>
        <a:tcBdr>
          <a:left>
            <a:ln w="12700" cmpd="sng">
              <a:solidFill>
                <a:srgbClr val="808080"/>
              </a:solidFill>
              <a:prstDash val="solid"/>
            </a:ln>
          </a:left>
          <a:right>
            <a:ln w="12700" cmpd="sng">
              <a:solidFill>
                <a:srgbClr val="808080"/>
              </a:solidFill>
              <a:prstDash val="solid"/>
            </a:ln>
          </a:right>
          <a:top>
            <a:ln w="12700" cmpd="sng">
              <a:solidFill>
                <a:srgbClr val="808080"/>
              </a:solidFill>
              <a:prstDash val="solid"/>
            </a:ln>
          </a:top>
          <a:bottom>
            <a:ln w="9525" cmpd="sng">
              <a:solidFill>
                <a:srgbClr val="80808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808080">
              <a:lumMod val="20000"/>
              <a:lumOff val="8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658" y="62"/>
      </p:cViewPr>
      <p:guideLst>
        <p:guide orient="horz" pos="2244"/>
        <p:guide pos="37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  <a:t>2026/2/23</a:t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73194" y="3696638"/>
            <a:ext cx="760817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EART</a:t>
            </a:r>
            <a:r>
              <a:rPr lang="en-US" altLang="zh-CN" sz="2400" dirty="0">
                <a:solidFill>
                  <a:schemeClr val="bg1"/>
                </a:solidFill>
              </a:rPr>
              <a:t>60702 </a:t>
            </a:r>
            <a:r>
              <a:rPr lang="en-US" altLang="zh-CN" sz="2400" b="1" dirty="0">
                <a:solidFill>
                  <a:schemeClr val="bg1"/>
                </a:solidFill>
              </a:rPr>
              <a:t>Earth and Environmental Data Science</a:t>
            </a:r>
          </a:p>
          <a:p>
            <a:pPr algn="ctr">
              <a:defRPr sz="4000" b="1">
                <a:solidFill>
                  <a:srgbClr val="D4AF37"/>
                </a:solidFill>
              </a:defRPr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defRPr sz="4000" b="1">
                <a:solidFill>
                  <a:srgbClr val="D4AF37"/>
                </a:solidFill>
              </a:defRPr>
            </a:pPr>
            <a:r>
              <a:rPr lang="en-US" altLang="zh-CN" sz="2400" b="1" dirty="0">
                <a:solidFill>
                  <a:schemeClr val="bg1"/>
                </a:solidFill>
              </a:rPr>
              <a:t>Group 4</a:t>
            </a:r>
          </a:p>
          <a:p>
            <a:pPr algn="ctr">
              <a:defRPr sz="4000" b="1">
                <a:solidFill>
                  <a:srgbClr val="D4AF37"/>
                </a:solidFill>
              </a:defRPr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defRPr sz="4000" b="1">
                <a:solidFill>
                  <a:srgbClr val="D4AF37"/>
                </a:solidFill>
              </a:defRPr>
            </a:pPr>
            <a:r>
              <a:rPr lang="en-US" altLang="zh-CN" sz="2400" b="1" dirty="0">
                <a:solidFill>
                  <a:schemeClr val="bg1"/>
                </a:solidFill>
              </a:rPr>
              <a:t>Members</a:t>
            </a:r>
            <a:r>
              <a:rPr lang="zh-CN" altLang="en-US" sz="2400" b="1" dirty="0">
                <a:solidFill>
                  <a:schemeClr val="bg1"/>
                </a:solidFill>
              </a:rPr>
              <a:t>： </a:t>
            </a:r>
            <a:r>
              <a:rPr lang="en-US" altLang="zh-CN" sz="2400" b="1" dirty="0">
                <a:solidFill>
                  <a:schemeClr val="bg1"/>
                </a:solidFill>
              </a:rPr>
              <a:t>Ruiqi Huang</a:t>
            </a:r>
            <a:r>
              <a:rPr lang="zh-CN" altLang="en-US" sz="2400" b="1" dirty="0">
                <a:solidFill>
                  <a:schemeClr val="bg1"/>
                </a:solidFill>
              </a:rPr>
              <a:t>， </a:t>
            </a:r>
            <a:r>
              <a:rPr lang="en-US" altLang="zh-CN" sz="2400" b="1" dirty="0">
                <a:solidFill>
                  <a:schemeClr val="bg1"/>
                </a:solidFill>
              </a:rPr>
              <a:t>Kedi Li</a:t>
            </a:r>
            <a:r>
              <a:rPr lang="zh-CN" altLang="en-US" sz="2400" b="1" dirty="0">
                <a:solidFill>
                  <a:schemeClr val="bg1"/>
                </a:solidFill>
              </a:rPr>
              <a:t>， </a:t>
            </a:r>
            <a:r>
              <a:rPr lang="en-US" altLang="zh-CN" sz="2400" b="1" dirty="0">
                <a:solidFill>
                  <a:schemeClr val="bg1"/>
                </a:solidFill>
              </a:rPr>
              <a:t>Yuhui Duan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69264" y="1386840"/>
            <a:ext cx="89401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3200" b="1" dirty="0">
                <a:solidFill>
                  <a:srgbClr val="D4AF37"/>
                </a:solidFill>
              </a:rPr>
              <a:t>What Drives a Warming Climate? </a:t>
            </a:r>
          </a:p>
          <a:p>
            <a:pPr algn="ctr"/>
            <a:r>
              <a:rPr lang="en-GB" altLang="zh-CN" sz="3200" b="1" dirty="0">
                <a:solidFill>
                  <a:srgbClr val="D4AF37"/>
                </a:solidFill>
              </a:rPr>
              <a:t>Exploring the Physical Mechanisms Behind Regional Climate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15161" y="108404"/>
            <a:ext cx="7672504" cy="686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sz="3200" b="1" dirty="0">
                <a:solidFill>
                  <a:srgbClr val="D4AF37"/>
                </a:solidFill>
              </a:rPr>
              <a:t>Study Area </a:t>
            </a:r>
            <a:r>
              <a:rPr lang="zh-CN" altLang="en-US" sz="3200" b="1" dirty="0">
                <a:solidFill>
                  <a:srgbClr val="D4AF37"/>
                </a:solidFill>
              </a:rPr>
              <a:t>&amp; </a:t>
            </a:r>
            <a:r>
              <a:rPr lang="en-US" altLang="zh-CN" sz="3200" b="1" dirty="0">
                <a:solidFill>
                  <a:srgbClr val="D4AF37"/>
                </a:solidFill>
              </a:rPr>
              <a:t>Research Question</a:t>
            </a:r>
            <a:endParaRPr lang="en-US" altLang="zh-CN" sz="3200" b="1" dirty="0"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542" y="962450"/>
            <a:ext cx="5602780" cy="342600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3808" y="1267569"/>
            <a:ext cx="5384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D4AF37"/>
                </a:solidFill>
              </a:rPr>
              <a:t>The coordinate of study area is </a:t>
            </a:r>
            <a:r>
              <a:rPr lang="en-US" altLang="zh-CN" b="1" dirty="0">
                <a:solidFill>
                  <a:srgbClr val="D4AF37"/>
                </a:solidFill>
              </a:rPr>
              <a:t>53.246</a:t>
            </a:r>
            <a:r>
              <a:rPr lang="en-US" altLang="en-US" b="1" dirty="0">
                <a:solidFill>
                  <a:srgbClr val="D4AF37"/>
                </a:solidFill>
              </a:rPr>
              <a:t>°</a:t>
            </a:r>
            <a:r>
              <a:rPr lang="en-US" altLang="zh-CN" b="1" dirty="0">
                <a:solidFill>
                  <a:srgbClr val="D4AF37"/>
                </a:solidFill>
              </a:rPr>
              <a:t> N, 2.5</a:t>
            </a:r>
            <a:r>
              <a:rPr lang="en-US" altLang="en-US" b="1" dirty="0">
                <a:solidFill>
                  <a:srgbClr val="D4AF37"/>
                </a:solidFill>
              </a:rPr>
              <a:t>°</a:t>
            </a:r>
            <a:r>
              <a:rPr lang="en-US" altLang="zh-CN" b="1" dirty="0">
                <a:solidFill>
                  <a:srgbClr val="D4AF37"/>
                </a:solidFill>
              </a:rPr>
              <a:t> W, </a:t>
            </a:r>
            <a:r>
              <a:rPr lang="en-US" altLang="zh-CN" dirty="0">
                <a:solidFill>
                  <a:srgbClr val="D4AF37"/>
                </a:solidFill>
              </a:rPr>
              <a:t>which are located in </a:t>
            </a:r>
            <a:r>
              <a:rPr lang="en-US" altLang="zh-CN" b="1" dirty="0">
                <a:solidFill>
                  <a:srgbClr val="D4AF37"/>
                </a:solidFill>
              </a:rPr>
              <a:t>Cheshire</a:t>
            </a:r>
            <a:r>
              <a:rPr lang="en-US" altLang="zh-CN" dirty="0">
                <a:solidFill>
                  <a:srgbClr val="D4AF37"/>
                </a:solidFill>
              </a:rPr>
              <a:t>, UK, in northwest England , near Manchester and Liverpool..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73808" y="2417516"/>
            <a:ext cx="5929744" cy="20228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The region has a typical </a:t>
            </a:r>
            <a:r>
              <a:rPr lang="en-US" altLang="zh-CN" b="1" dirty="0">
                <a:solidFill>
                  <a:schemeClr val="bg1"/>
                </a:solidFill>
              </a:rPr>
              <a:t>temperate maritime climate</a:t>
            </a:r>
            <a:r>
              <a:rPr lang="en-US" altLang="zh-CN" dirty="0">
                <a:solidFill>
                  <a:schemeClr val="bg1"/>
                </a:solidFill>
              </a:rPr>
              <a:t>. 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The climate is mild and humid year-round (</a:t>
            </a:r>
            <a:r>
              <a:rPr lang="en-US" altLang="zh-CN" dirty="0" err="1">
                <a:solidFill>
                  <a:schemeClr val="bg1"/>
                </a:solidFill>
              </a:rPr>
              <a:t>Minobe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Kuwano</a:t>
            </a:r>
            <a:r>
              <a:rPr lang="en-US" altLang="zh-CN" dirty="0">
                <a:solidFill>
                  <a:schemeClr val="bg1"/>
                </a:solidFill>
              </a:rPr>
              <a:t>-Yoshida et al. 2008, Palter 2015).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However, the frequence of extreme weathers events are increasing in europe (Weilnhammer, Schmid et al. 2021)</a:t>
            </a:r>
          </a:p>
        </p:txBody>
      </p:sp>
      <p:sp>
        <p:nvSpPr>
          <p:cNvPr id="181" name="圆角矩形 180"/>
          <p:cNvSpPr/>
          <p:nvPr/>
        </p:nvSpPr>
        <p:spPr>
          <a:xfrm>
            <a:off x="522605" y="4947285"/>
            <a:ext cx="11383645" cy="1381760"/>
          </a:xfrm>
          <a:prstGeom prst="roundRect">
            <a:avLst/>
          </a:prstGeom>
          <a:noFill/>
          <a:ln w="19050">
            <a:solidFill>
              <a:schemeClr val="bg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023739" y="5092228"/>
            <a:ext cx="10509167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How does the weather change with time, </a:t>
            </a:r>
          </a:p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and their potential controlling factors?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Trend Analysis——Temperature Trend &amp; Seasonal Distribution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405133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1040" y="1125220"/>
            <a:ext cx="330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Temperature Trend Line Plot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6372" y="1817169"/>
            <a:ext cx="4122539" cy="42355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The data shows a significant upward trend in linear regression.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•  Mean annual temperature: 10–13.5</a:t>
            </a:r>
            <a:r>
              <a:rPr lang="en-US" altLang="en-US" dirty="0">
                <a:solidFill>
                  <a:schemeClr val="bg1"/>
                </a:solidFill>
              </a:rPr>
              <a:t>°</a:t>
            </a:r>
            <a:r>
              <a:rPr lang="en-US" altLang="zh-CN" dirty="0">
                <a:solidFill>
                  <a:schemeClr val="bg1"/>
                </a:solidFill>
              </a:rPr>
              <a:t>C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•  Strong upward trend (R ≈ 0.92)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•  Approx. 0.4</a:t>
            </a:r>
            <a:r>
              <a:rPr lang="en-US" altLang="en-US" dirty="0">
                <a:solidFill>
                  <a:schemeClr val="bg1"/>
                </a:solidFill>
              </a:rPr>
              <a:t>°</a:t>
            </a:r>
            <a:r>
              <a:rPr lang="en-US" altLang="zh-CN" dirty="0">
                <a:solidFill>
                  <a:schemeClr val="bg1"/>
                </a:solidFill>
              </a:rPr>
              <a:t>C per decade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Physical significance:</a:t>
            </a:r>
          </a:p>
          <a:p>
            <a:pPr indent="0">
              <a:buNone/>
            </a:pPr>
            <a:r>
              <a:rPr lang="en-US" altLang="zh-CN" dirty="0">
                <a:solidFill>
                  <a:schemeClr val="bg1"/>
                </a:solidFill>
              </a:rPr>
              <a:t>•  The region is experiencing long-term climate warming</a:t>
            </a:r>
          </a:p>
          <a:p>
            <a:pPr indent="0">
              <a:buNone/>
            </a:pPr>
            <a:r>
              <a:rPr lang="en-US" altLang="zh-CN" dirty="0">
                <a:solidFill>
                  <a:schemeClr val="bg1"/>
                </a:solidFill>
              </a:rPr>
              <a:t>•  Showing the potential influence of greenhouse effect (Manabe 2019).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50424" y="5924524"/>
            <a:ext cx="5037871" cy="829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GB" altLang="zh-CN" sz="2400" b="1" dirty="0">
                <a:solidFill>
                  <a:srgbClr val="FFC000"/>
                </a:solidFill>
              </a:rPr>
              <a:t>Clear regional warming signal</a:t>
            </a:r>
            <a:r>
              <a:rPr lang="en-GB" altLang="zh-CN" sz="2400" dirty="0"/>
              <a:t>.</a:t>
            </a:r>
            <a:endParaRPr lang="zh-CN" altLang="en-US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911" y="1125194"/>
            <a:ext cx="7539321" cy="468000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 userDrawn="1"/>
        </p:nvCxnSpPr>
        <p:spPr>
          <a:xfrm flipV="1">
            <a:off x="6406096" y="2328312"/>
            <a:ext cx="3827921" cy="1971579"/>
          </a:xfrm>
          <a:prstGeom prst="straightConnector1">
            <a:avLst/>
          </a:prstGeom>
          <a:ln w="57150">
            <a:solidFill>
              <a:srgbClr val="FFC000">
                <a:alpha val="10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Trend Analysis——Temperature Trend &amp; Seasonal Distribution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395577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990" y="1087120"/>
            <a:ext cx="4300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Heatmap of Monthly Mean Temperature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1018" y="1931534"/>
            <a:ext cx="4167505" cy="33958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•  In the mid-to-late 21st century, “deep red spots” (extreme high temperatures) frequently appear in summer.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•  The frequency and intensity increase over time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Physical significance: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•  Non-uniform global warming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•  Regional seasonal climate structures may potentially being reshaped (Qin, Xie et al. 2024).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1122"/>
          <a:stretch>
            <a:fillRect/>
          </a:stretch>
        </p:blipFill>
        <p:spPr>
          <a:xfrm>
            <a:off x="4804097" y="810000"/>
            <a:ext cx="7387903" cy="604800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 userDrawn="1"/>
        </p:nvCxnSpPr>
        <p:spPr>
          <a:xfrm>
            <a:off x="9886506" y="1794052"/>
            <a:ext cx="0" cy="4202606"/>
          </a:xfrm>
          <a:prstGeom prst="straightConnector1">
            <a:avLst/>
          </a:prstGeom>
          <a:ln w="92075" cmpd="sng">
            <a:solidFill>
              <a:srgbClr val="FF0000">
                <a:alpha val="100000"/>
              </a:srgb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Trend Analysis——</a:t>
            </a:r>
            <a:r>
              <a:rPr lang="en-US" altLang="zh-CN" sz="2800" b="1" dirty="0">
                <a:solidFill>
                  <a:srgbClr val="D4AF37"/>
                </a:solidFill>
              </a:rPr>
              <a:t>Precipitation Trend &amp; Seasonal Distribution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410" y="882650"/>
            <a:ext cx="7539321" cy="46800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300990" y="1651635"/>
            <a:ext cx="4237990" cy="315912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1040" y="1125220"/>
            <a:ext cx="330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Precipitation Trend Line Plot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3695" y="1900555"/>
            <a:ext cx="4185285" cy="2773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The line shows sharp, jagged </a:t>
            </a:r>
            <a:r>
              <a:rPr lang="en-US" altLang="zh-CN" b="1" dirty="0">
                <a:solidFill>
                  <a:srgbClr val="D4AF37"/>
                </a:solidFill>
              </a:rPr>
              <a:t>fluctuations</a:t>
            </a:r>
            <a:r>
              <a:rPr lang="en-US" altLang="zh-CN" dirty="0">
                <a:solidFill>
                  <a:schemeClr val="bg1"/>
                </a:solidFill>
              </a:rPr>
              <a:t>, lacking a smooth, monotonous trend.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Physical significance: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This illustrates that precipitation systems exhibit extremely high </a:t>
            </a:r>
            <a:r>
              <a:rPr lang="en-US" altLang="zh-CN" b="1" dirty="0">
                <a:solidFill>
                  <a:srgbClr val="D4AF37"/>
                </a:solidFill>
              </a:rPr>
              <a:t>interannual variability</a:t>
            </a:r>
            <a:r>
              <a:rPr lang="en-US" altLang="zh-CN" dirty="0">
                <a:solidFill>
                  <a:schemeClr val="bg1"/>
                </a:solidFill>
              </a:rPr>
              <a:t> and </a:t>
            </a:r>
            <a:r>
              <a:rPr lang="en-US" altLang="zh-CN" b="1" dirty="0">
                <a:solidFill>
                  <a:srgbClr val="D4AF37"/>
                </a:solidFill>
              </a:rPr>
              <a:t>inherent uncertainty</a:t>
            </a:r>
            <a:r>
              <a:rPr lang="en-US" altLang="zh-CN" b="1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Trend Analysis——</a:t>
            </a:r>
            <a:r>
              <a:rPr lang="en-US" altLang="zh-CN" sz="2800" b="1" dirty="0">
                <a:solidFill>
                  <a:srgbClr val="D4AF37"/>
                </a:solidFill>
              </a:rPr>
              <a:t>Precipitation Trend &amp; Seasonal Distribution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411797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990" y="1087120"/>
            <a:ext cx="423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sym typeface="+mn-ea"/>
              </a:rPr>
              <a:t>Heatmap of Monthly Total Precipitation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2260" y="1900555"/>
            <a:ext cx="4248150" cy="3477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Clearly outlines the local precipitation pattern of "more rain in autumn and winter, and relatively less rain in spring and summer".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Physical significance: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As shown in the heatmap, the combination of "extreme high temperatures in summer" and "relatively low precipitation" will significantly increase the risk of </a:t>
            </a:r>
            <a:r>
              <a:rPr lang="en-US" altLang="zh-CN" b="1" dirty="0">
                <a:solidFill>
                  <a:srgbClr val="D4AF37"/>
                </a:solidFill>
              </a:rPr>
              <a:t>seasonal drought</a:t>
            </a:r>
            <a:r>
              <a:rPr lang="en-US" altLang="zh-CN" dirty="0">
                <a:solidFill>
                  <a:schemeClr val="bg1"/>
                </a:solidFill>
              </a:rPr>
              <a:t> in the region.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90" y="795020"/>
            <a:ext cx="7204710" cy="6049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Trend Analysis——</a:t>
            </a:r>
            <a:r>
              <a:rPr lang="en-US" altLang="zh-CN" sz="2800" b="1" dirty="0">
                <a:solidFill>
                  <a:srgbClr val="D4AF37"/>
                </a:solidFill>
              </a:rPr>
              <a:t>Surface Net Shortwave Radiation Trend (FSNS)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370776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1040" y="1125220"/>
            <a:ext cx="330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Radiation Trend Line Plot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4805" y="1823720"/>
            <a:ext cx="4205605" cy="3477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Tracked the changing trajectory of solar energy as it penetrates the atmosphere to reach the Earth's surface.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Physical significance: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 Fluctuations in radiation are directly affected by local </a:t>
            </a:r>
            <a:r>
              <a:rPr lang="en-US" altLang="zh-CN" b="1" dirty="0">
                <a:solidFill>
                  <a:srgbClr val="D4AF37"/>
                </a:solidFill>
              </a:rPr>
              <a:t>cloud cover</a:t>
            </a:r>
            <a:r>
              <a:rPr lang="en-US" altLang="zh-CN" dirty="0">
                <a:solidFill>
                  <a:schemeClr val="bg1"/>
                </a:solidFill>
              </a:rPr>
              <a:t> and </a:t>
            </a:r>
            <a:r>
              <a:rPr lang="en-US" altLang="zh-CN" b="1" dirty="0">
                <a:solidFill>
                  <a:srgbClr val="D4AF37"/>
                </a:solidFill>
              </a:rPr>
              <a:t>atmospheric transparency</a:t>
            </a:r>
            <a:r>
              <a:rPr lang="en-US" altLang="zh-CN" dirty="0">
                <a:solidFill>
                  <a:schemeClr val="bg1"/>
                </a:solidFill>
              </a:rPr>
              <a:t>, serving as the direct "fuel" and energy source driving abnormal fluctuations in surface temperature.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45" y="911860"/>
            <a:ext cx="7539321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D4AF37"/>
                </a:solidFill>
              </a:rPr>
              <a:t>Correlation Analysis</a:t>
            </a:r>
            <a:r>
              <a:rPr lang="en-GB" altLang="zh-CN" sz="2800" b="1" dirty="0">
                <a:solidFill>
                  <a:srgbClr val="D4AF37"/>
                </a:solidFill>
              </a:rPr>
              <a:t>——</a:t>
            </a:r>
            <a:r>
              <a:rPr lang="en-US" altLang="zh-CN" sz="2800" b="1" dirty="0">
                <a:solidFill>
                  <a:srgbClr val="D4AF37"/>
                </a:solidFill>
              </a:rPr>
              <a:t>Correlation Matrix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322897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2050" y="1125220"/>
            <a:ext cx="2609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Correlation Matrix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1625" y="2284665"/>
            <a:ext cx="4205605" cy="228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Surface temperature (TREFHT) shows a strong positive correlation with shortwave radiation (FSNS) and bottom specific moisture (QBOT) (deep red block).</a:t>
            </a:r>
          </a:p>
        </p:txBody>
      </p:sp>
      <p:pic>
        <p:nvPicPr>
          <p:cNvPr id="9" name="Picture 3" descr="5822fec2-22ff-476e-ac55-ef70d265a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89" y="901065"/>
            <a:ext cx="6867975" cy="5760000"/>
          </a:xfrm>
          <a:prstGeom prst="rect">
            <a:avLst/>
          </a:prstGeom>
        </p:spPr>
      </p:pic>
      <p:sp>
        <p:nvSpPr>
          <p:cNvPr id="331" name="椭圆 330"/>
          <p:cNvSpPr/>
          <p:nvPr/>
        </p:nvSpPr>
        <p:spPr>
          <a:xfrm rot="19200717">
            <a:off x="5903595" y="1873885"/>
            <a:ext cx="930275" cy="654685"/>
          </a:xfrm>
          <a:prstGeom prst="ellipse">
            <a:avLst/>
          </a:prstGeom>
          <a:noFill/>
          <a:ln w="34925"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等线" panose="0201060003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 rot="19200717">
            <a:off x="5903595" y="3235325"/>
            <a:ext cx="930275" cy="654685"/>
          </a:xfrm>
          <a:prstGeom prst="ellipse">
            <a:avLst/>
          </a:prstGeom>
          <a:noFill/>
          <a:ln w="34925"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D4AF37"/>
                </a:solidFill>
              </a:rPr>
              <a:t>Relationship Analysis</a:t>
            </a:r>
            <a:r>
              <a:rPr lang="en-GB" altLang="zh-CN" sz="2800" b="1" dirty="0">
                <a:solidFill>
                  <a:srgbClr val="D4AF37"/>
                </a:solidFill>
              </a:rPr>
              <a:t>——</a:t>
            </a:r>
            <a:r>
              <a:rPr lang="en-US" altLang="zh-CN" sz="2800" b="1" dirty="0">
                <a:solidFill>
                  <a:srgbClr val="D4AF37"/>
                </a:solidFill>
              </a:rPr>
              <a:t>Temperature–Radiation Relationship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366966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1068" y="1005218"/>
            <a:ext cx="4237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Scatter Regression Plot of Temperature vs. Radiation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1625" y="2259784"/>
            <a:ext cx="4205605" cy="3041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findings: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Net shortwave radiation reaching the Earth's surface shows a clear positive linear fit with surface temperature.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Less cloud → More sunshine → Ground warms up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410" y="981710"/>
            <a:ext cx="7539321" cy="468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36040" y="5733415"/>
            <a:ext cx="95199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dirty="0">
                <a:solidFill>
                  <a:srgbClr val="FFC000"/>
                </a:solidFill>
              </a:rPr>
              <a:t>The chart reveals the first physical driver of global warming: radiative forcing.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6602" y="3597443"/>
            <a:ext cx="13973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5110" y="196850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D4AF37"/>
                </a:solidFill>
              </a:rPr>
              <a:t>Relationship Analysis</a:t>
            </a:r>
            <a:r>
              <a:rPr lang="en-GB" altLang="zh-CN" sz="2800" b="1" dirty="0">
                <a:solidFill>
                  <a:srgbClr val="D4AF37"/>
                </a:solidFill>
              </a:rPr>
              <a:t>——</a:t>
            </a:r>
            <a:r>
              <a:rPr lang="en-US" altLang="zh-CN" sz="2800" b="1" dirty="0">
                <a:solidFill>
                  <a:srgbClr val="D4AF37"/>
                </a:solidFill>
              </a:rPr>
              <a:t>Temperature–QBOT Relationship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300990" y="1651635"/>
            <a:ext cx="4237990" cy="3806307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625" y="1005205"/>
            <a:ext cx="4248785" cy="608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990" y="986790"/>
            <a:ext cx="4237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Scatter Regression Plot of Temperature vs. Specific Humidity (QBOT)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1625" y="2143553"/>
            <a:ext cx="4205605" cy="29796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Key finding: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bg1"/>
                </a:solidFill>
              </a:rPr>
              <a:t>The actual water content (specific humidity) of the atmosphere shows a very close, synchronous increase with rising temperature.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Warming → increased water vapor → stronger warming.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078" y="1089000"/>
            <a:ext cx="7529922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22955" y="196850"/>
            <a:ext cx="5506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D4AF37"/>
                </a:solidFill>
              </a:rPr>
              <a:t>Conclusions and Key Findings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301490" y="1242695"/>
            <a:ext cx="7604125" cy="10750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49580" y="1242695"/>
            <a:ext cx="3672840" cy="1075055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Evolution of the phenomenon: Warming and hydrological extremes</a:t>
            </a:r>
          </a:p>
        </p:txBody>
      </p:sp>
      <p:sp>
        <p:nvSpPr>
          <p:cNvPr id="206" name="椭圆 205"/>
          <p:cNvSpPr/>
          <p:nvPr>
            <p:custDataLst>
              <p:tags r:id="rId3"/>
            </p:custDataLst>
          </p:nvPr>
        </p:nvSpPr>
        <p:spPr>
          <a:xfrm>
            <a:off x="307857" y="1082874"/>
            <a:ext cx="352926" cy="35292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</a:rPr>
              <a:t>A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339448" y="1318895"/>
            <a:ext cx="7406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Summer mean temperatures show a significant upward trend, while precipitation does not exhibit a statistically significant long-term change but displays notable interannual variability.</a:t>
            </a: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4280018" y="2523621"/>
            <a:ext cx="7604125" cy="10750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449580" y="2538095"/>
            <a:ext cx="3672840" cy="1075055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Core Driver: Radiative Forcing</a:t>
            </a: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307857" y="2378274"/>
            <a:ext cx="352926" cy="35292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4310874" y="2577871"/>
            <a:ext cx="7542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Enhanced net downward shortwave surface flux, largely controlled by atmospheric (cloud) variations, contributes to regional anomalous warming.(Loeb, Wang et al. 2019).</a:t>
            </a: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4301171" y="3789812"/>
            <a:ext cx="7604125" cy="10750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449580" y="3773170"/>
            <a:ext cx="3672840" cy="1075055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Mechanism Scale-Up: Thermodynamic Feedback</a:t>
            </a:r>
          </a:p>
        </p:txBody>
      </p:sp>
      <p:sp>
        <p:nvSpPr>
          <p:cNvPr id="19" name="椭圆 18"/>
          <p:cNvSpPr/>
          <p:nvPr>
            <p:custDataLst>
              <p:tags r:id="rId11"/>
            </p:custDataLst>
          </p:nvPr>
        </p:nvSpPr>
        <p:spPr>
          <a:xfrm>
            <a:off x="307857" y="3613349"/>
            <a:ext cx="352926" cy="35292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4310874" y="3825200"/>
            <a:ext cx="767058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This illustrates the </a:t>
            </a:r>
            <a:r>
              <a:rPr lang="en-US" altLang="zh-CN" b="1" dirty="0"/>
              <a:t>Clausius-Clapeyron effect</a:t>
            </a:r>
            <a:r>
              <a:rPr lang="en-US" altLang="zh-CN" dirty="0"/>
              <a:t>: rising temperatures force the atmosphere to absorb more water vapor, which in turn locks in more heat (Pall, Allen et al. 2007, O</a:t>
            </a:r>
            <a:r>
              <a:rPr lang="zh-CN" altLang="zh-CN" dirty="0"/>
              <a:t>’</a:t>
            </a:r>
            <a:r>
              <a:rPr lang="en-US" altLang="zh-CN" dirty="0"/>
              <a:t>Gorman and Muller 2010).</a:t>
            </a: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4301490" y="5008245"/>
            <a:ext cx="7604125" cy="10750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449580" y="5008245"/>
            <a:ext cx="3672840" cy="1075055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Final Conclusion: The New Normal of Climate Change</a:t>
            </a:r>
          </a:p>
        </p:txBody>
      </p:sp>
      <p:sp>
        <p:nvSpPr>
          <p:cNvPr id="23" name="椭圆 22"/>
          <p:cNvSpPr/>
          <p:nvPr>
            <p:custDataLst>
              <p:tags r:id="rId15"/>
            </p:custDataLst>
          </p:nvPr>
        </p:nvSpPr>
        <p:spPr>
          <a:xfrm>
            <a:off x="307857" y="4848424"/>
            <a:ext cx="352926" cy="35292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4339448" y="5050980"/>
            <a:ext cx="7406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Driven by rigorous thermodynamics, the region is irreversibly moving toward a high-energy climate state characterized by warmer, wetter, and more extreme fluctuations.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077460" y="196215"/>
            <a:ext cx="2209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D4AF37"/>
                </a:solidFill>
              </a:rPr>
              <a:t>References</a:t>
            </a: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文本框 5"/>
          <p:cNvSpPr txBox="1"/>
          <p:nvPr/>
        </p:nvSpPr>
        <p:spPr>
          <a:xfrm>
            <a:off x="1618766" y="978754"/>
            <a:ext cx="8913694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Loeb, N. G., et al. (2019). "Decomposing shortwave top-of-atmosphere and surface radiative flux variations in terms of surface and atmospheric contributions." </a:t>
            </a:r>
            <a:r>
              <a:rPr lang="en-US" altLang="zh-CN" sz="1800" u="sng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Journal of Climate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(16): 5003-5019.</a:t>
            </a:r>
          </a:p>
          <a:p>
            <a:pPr marL="342900" indent="-342900">
              <a:buAutoNum type="arabicPeriod"/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Manabe, S. (2019). "Role of greenhouse gas in climate change." Tellus A: Dynamic Meteorology and Oceanography 71(1): 1620078.</a:t>
            </a:r>
          </a:p>
          <a:p>
            <a:pPr marL="342900" indent="-342900">
              <a:buAutoNum type="arabicPeriod"/>
            </a:pPr>
            <a:r>
              <a:rPr lang="en-US" altLang="zh-CN" dirty="0" err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Minobe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S., et al. (2008). "Influence of the Gulf Stream on the troposphere." </a:t>
            </a:r>
            <a:r>
              <a:rPr lang="en-US" altLang="zh-CN" u="sng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Nature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452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(7184): 206-209.</a:t>
            </a:r>
            <a:endParaRPr lang="zh-CN" alt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O</a:t>
            </a:r>
            <a:r>
              <a:rPr lang="zh-CN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’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Gorman, P. A. and C. J. Muller (2010). "How closely do changes in surface and column water vapor follow Clausius</a:t>
            </a:r>
            <a:r>
              <a:rPr lang="zh-CN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–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Clapeyron scaling in climate change simulations?" </a:t>
            </a:r>
            <a:r>
              <a:rPr lang="en-US" altLang="zh-CN" u="sng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Environmental Research Letters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(2): 025207.</a:t>
            </a:r>
            <a:endParaRPr lang="zh-CN" alt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Pall, P., et al. (2007). "Testing the Clausius</a:t>
            </a:r>
            <a:r>
              <a:rPr lang="zh-CN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–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Clapeyron constraint on changes in extreme precipitation under CO2 warming." </a:t>
            </a:r>
            <a:r>
              <a:rPr lang="en-US" altLang="zh-CN" u="sng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Climate Dynamics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28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(4): 351-363.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Palter, J. B. (2015). "The role of the Gulf Stream in European climate." </a:t>
            </a:r>
            <a:r>
              <a:rPr lang="en-US" altLang="zh-CN" u="sng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Annual review of marine science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(1): 113-137.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Qin, P., et al. (2024). "Characteristics of population exposure to climate extremes from regional to global 1.5</a:t>
            </a:r>
            <a:r>
              <a:rPr lang="en-US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°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C and 2.0</a:t>
            </a:r>
            <a:r>
              <a:rPr lang="en-US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°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C warming in CMIP6 models." Environmental Research Letters 19(1): 014018.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Weilnhammer, V., et al. (2021). "Extreme weather events in europe and their health consequences–A systematic review." International Journal of Hygiene and Environmental Health 233: 113688.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11447" y="221215"/>
            <a:ext cx="5162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b="1" dirty="0">
                <a:solidFill>
                  <a:srgbClr val="D4AF37"/>
                </a:solidFill>
              </a:rPr>
              <a:t>Team Task Distribution Table</a:t>
            </a:r>
            <a:endParaRPr lang="en-US" altLang="zh-CN" sz="2800" b="1" dirty="0">
              <a:solidFill>
                <a:srgbClr val="D4AF37"/>
              </a:solidFill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245110" y="718820"/>
            <a:ext cx="11661140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65467" y="1401665"/>
          <a:ext cx="11061065" cy="4428490"/>
        </p:xfrm>
        <a:graphic>
          <a:graphicData uri="http://schemas.openxmlformats.org/drawingml/2006/table">
            <a:tbl>
              <a:tblPr firstRow="1" bandRow="1">
                <a:tableStyleId>{2D7E745F-D0BE-4AB5-A735-7A81F4BE7858}</a:tableStyleId>
              </a:tblPr>
              <a:tblGrid>
                <a:gridCol w="300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87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u="none" strike="noStrike" spc="130" dirty="0">
                          <a:solidFill>
                            <a:schemeClr val="tx1"/>
                          </a:solidFill>
                          <a:effectLst/>
                        </a:rPr>
                        <a:t>Group members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u="none" strike="noStrike" spc="130" dirty="0">
                          <a:solidFill>
                            <a:schemeClr val="tx1"/>
                          </a:solidFill>
                          <a:effectLst/>
                        </a:rPr>
                        <a:t>Student ID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u="none" strike="noStrike" spc="130" dirty="0">
                          <a:solidFill>
                            <a:schemeClr val="tx1"/>
                          </a:solidFill>
                          <a:effectLst/>
                        </a:rPr>
                        <a:t>Main responsibilities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Ruiqi Huang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14180111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Drawing annual trend charts and scatter plots, integrating code, writing README, and creating PPT presentations.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4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Kedi Li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14200199</a:t>
                      </a:r>
                      <a:endParaRPr lang="zh-CN" altLang="en-US" sz="1600" u="none" strike="noStrike">
                        <a:effectLst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Creating monthly average trend charts (Heatmap) and </a:t>
                      </a:r>
                      <a:r>
                        <a:rPr lang="en-US" sz="1600" dirty="0">
                          <a:effectLst/>
                        </a:rPr>
                        <a:t>creating</a:t>
                      </a:r>
                      <a:r>
                        <a:rPr lang="en-US" sz="1600" u="none" strike="noStrike" dirty="0">
                          <a:effectLst/>
                        </a:rPr>
                        <a:t> a PowerPoint presentation.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Yuhui Duan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14219275</a:t>
                      </a:r>
                      <a:endParaRPr lang="zh-CN" altLang="en-US" sz="1600" u="none" strike="noStrike">
                        <a:effectLst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Drawing a correlation matrix and creating a PowerPoint presentation.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2409,50000047,5000009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7343307086614,&quot;left&quot;:24.240708661417287,&quot;top&quot;:85.26566929133858,&quot;width&quot;:919.18102362204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2514d0-1baf-4113-b1b0-77e0727f613a" xmlns:xsi="http://www.w3.org/2001/XMLSchema-instance" xsi:nil="true"/>
  </documentManagement>
</p:properties>
</file>

<file path=customXml/item2.xml><?xml version="1.0" encoding="utf-8"?>
<ct:contentTypeSchema xmlns:ct="http://schemas.microsoft.com/office/2006/metadata/contentType" contentTypeVersion="9" _="" contentTypeDescription="Create a new document." contentTypeScope="" contentTypeID="0x010100F1D26F62E5C4DC4D98FAB396728BB81D" versionID="1f03f48f6527d541a3b18ac4739cc1f0" contentTypeName="Document">
  <xsd:schema xmlns:xsd="http://www.w3.org/2001/XMLSchema" root="true" _="" targetNamespace="http://schemas.microsoft.com/office/2006/metadata/properties" fieldsID="a7f4b56daed70b72f0fb16df63363826">
    <xsd:import xmlns:xsd="http://www.w3.org/2001/XMLSchema" namespace="982514d0-1baf-4113-b1b0-77e0727f613a"/>
    <xsd:element xmlns:xsd="http://www.w3.org/2001/XMLSchema" name="properties">
      <xsd:complexType xmlns:xsd="http://www.w3.org/2001/XMLSchema">
        <xsd:sequence xmlns:xsd="http://www.w3.org/2001/XMLSchema">
          <xsd:element xmlns:xsd="http://www.w3.org/2001/XMLSchema" name="documentManagement">
            <xsd:complexType xmlns:xsd="http://www.w3.org/2001/XMLSchema">
              <xsd:all xmlns:xsd="http://www.w3.org/2001/XMLSchema">
                <xsd:element xmlns:xsd="http://www.w3.org/2001/XMLSchema" minOccurs="0" ref="ns3:MediaServiceDateTaken"/>
                <xsd:element xmlns:xsd="http://www.w3.org/2001/XMLSchema" minOccurs="0" ref="ns3:_activity"/>
                <xsd:element xmlns:xsd="http://www.w3.org/2001/XMLSchema" minOccurs="0" ref="ns3:MediaServiceMetadata"/>
                <xsd:element xmlns:xsd="http://www.w3.org/2001/XMLSchema" minOccurs="0" ref="ns3:MediaServiceFastMetadata"/>
                <xsd:element xmlns:xsd="http://www.w3.org/2001/XMLSchema" minOccurs="0" ref="ns3:MediaServiceSearchProperties"/>
                <xsd:element xmlns:xsd="http://www.w3.org/2001/XMLSchema" minOccurs="0" ref="ns3:MediaServiceSystemTags"/>
                <xsd:element xmlns:xsd="http://www.w3.org/2001/XMLSchema" minOccurs="0" ref="ns3:MediaServiceOCR"/>
                <xsd:element xmlns:xsd="http://www.w3.org/2001/XMLSchema" minOccurs="0" ref="ns3:MediaServiceGenerationTime"/>
                <xsd:element xmlns:xsd="http://www.w3.org/2001/XMLSchema" minOccurs="0" ref="ns3:MediaServiceEventHashCode"/>
              </xsd:all>
            </xsd:complexType>
          </xsd:element>
        </xsd:sequence>
      </xsd:complexType>
    </xsd:element>
  </xsd:schema>
  <xsd:schema xmlns:xsd="http://www.w3.org/2001/XMLSchema" targetNamespace="982514d0-1baf-4113-b1b0-77e0727f613a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dexed="true" name="MediaServiceDateTaken" ma:internalName="MediaServiceDateTaken" ma:index="8" nillable="true" displayName="MediaServiceDateTaken" 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name="_activity" ma:internalName="_activity" ma:index="9" nillable="true" displayName="_activity" hidden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name="MediaServiceMetadata" ma:internalName="MediaServiceMetadata" ma:index="10" nillable="true" displayName="MediaServiceMetadata" 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name="MediaServiceFastMetadata" ma:internalName="MediaServiceFastMetadata" ma:index="11" nillable="true" displayName="MediaServiceFastMetadata" 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name="MediaServiceSearchProperties" ma:internalName="MediaServiceSearchProperties" ma:index="12" nillable="true" displayName="MediaServiceSearchProperties" 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name="MediaServiceSystemTags" ma:internalName="MediaServiceSystemTags" ma:index="13" nillable="true" displayName="MediaServiceSystemTags" 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name="MediaServiceOCR" ma:internalName="MediaServiceOCR" index="14" nillable="true" displayName="Extracted Text" ma:readOnly="true">
      <xsd:simpleType xmlns:xsd="http://www.w3.org/2001/XMLSchema">
        <xsd:restriction xmlns:xsd="http://www.w3.org/2001/XMLSchema" base="dms:Note">
          <xsd:maxLength xmlns:xsd="http://www.w3.org/2001/XMLSchema" value="255"/>
        </xsd:restriction>
      </xsd:simpleType>
    </xsd:element>
    <xsd:element xmlns:xsd="http://www.w3.org/2001/XMLSchema" xmlns:ma="http://schemas.microsoft.com/office/2006/metadata/properties/metaAttributes" name="MediaServiceGenerationTime" ma:internalName="MediaServiceGenerationTime" ma:index="15" nillable="true" displayName="MediaServiceGenerationTime" 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name="MediaServiceEventHashCode" ma:internalName="MediaServiceEventHashCode" ma:index="16" nillable="true" displayName="MediaServiceEventHashCode" hidden="true" ma:readOnly="true">
      <xsd:simpleType xmlns:xsd="http://www.w3.org/2001/XMLSchema">
        <xsd:restriction xmlns:xsd="http://www.w3.org/2001/XMLSchema" base="dms:Text"/>
      </xsd:simpleType>
    </xsd:element>
  </xsd:schema>
  <xsd:schema xmlns:xsd="http://www.w3.org/2001/XMLSchema" blockDefault="#all" targetNamespace="http://schemas.openxmlformats.org/package/2006/metadata/core-properties" attributeFormDefault="unqualified" elementFormDefault="qualified">
    <xsd:import xmlns:xsd="http://www.w3.org/2001/XMLSchema" namespace="http://purl.org/dc/elements/1.1/" schemaLocation="http://dublincore.org/schemas/xmls/qdc/2003/04/02/dc.xsd"/>
    <xsd:import xmlns:xsd="http://www.w3.org/2001/XMLSchema" namespace="http://purl.org/dc/terms/" schemaLocation="http://dublincore.org/schemas/xmls/qdc/2003/04/02/dcterms.xsd"/>
    <xsd:element xmlns:xsd="http://www.w3.org/2001/XMLSchema" name="coreProperties" type="CT_coreProperties"/>
    <xsd:complexType xmlns:xsd="http://www.w3.org/2001/XMLSchema" name="CT_coreProperties">
      <xsd:all xmlns:xsd="http://www.w3.org/2001/XMLSchema">
        <xsd:element xmlns:xsd="http://www.w3.org/2001/XMLSchema" maxOccurs="1" minOccurs="0" ref="dc:creator"/>
        <xsd:element xmlns:xsd="http://www.w3.org/2001/XMLSchema" maxOccurs="1" minOccurs="0" ref="dcterms:created"/>
        <xsd:element xmlns:xsd="http://www.w3.org/2001/XMLSchema" maxOccurs="1" minOccurs="0" ref="dc:identifier"/>
        <xsd:element xmlns:xsd="http://www.w3.org/2001/XMLSchema" name="contentType" maxOccurs="1" minOccurs="0" index="0" displayName="Content Type" type="xsd:string"/>
        <xsd:element xmlns:xsd="http://www.w3.org/2001/XMLSchema" maxOccurs="1" minOccurs="0" index="4" displayName="Title" ref="dc:title"/>
        <xsd:element xmlns:xsd="http://www.w3.org/2001/XMLSchema" maxOccurs="1" minOccurs="0" ref="dc:subject"/>
        <xsd:element xmlns:xsd="http://www.w3.org/2001/XMLSchema" maxOccurs="1" minOccurs="0" ref="dc:description"/>
        <xsd:element xmlns:xsd="http://www.w3.org/2001/XMLSchema" name="keywords" maxOccurs="1" minOccurs="0" type="xsd:string"/>
        <xsd:element xmlns:xsd="http://www.w3.org/2001/XMLSchema" maxOccurs="1" minOccurs="0" ref="dc:language"/>
        <xsd:element xmlns:xsd="http://www.w3.org/2001/XMLSchema" name="category" maxOccurs="1" minOccurs="0" type="xsd:string"/>
        <xsd:element xmlns:xsd="http://www.w3.org/2001/XMLSchema" name="version" maxOccurs="1" minOccurs="0" type="xsd:string"/>
        <xsd:element xmlns:xsd="http://www.w3.org/2001/XMLSchema" name="revision" maxOccurs="1" minOccurs="0" type="xsd:string">
          <xsd:annotation xmlns:xsd="http://www.w3.org/2001/XMLSchema">
            <xsd:documentation xmlns:xsd="http://www.w3.org/2001/XMLSchema">
                        This value indicates the number of saves or revisions. The application is responsible for updating this value after each revision.
                    </xsd:documentation>
          </xsd:annotation>
        </xsd:element>
        <xsd:element xmlns:xsd="http://www.w3.org/2001/XMLSchema" name="lastModifiedBy" maxOccurs="1" minOccurs="0" type="xsd:string"/>
        <xsd:element xmlns:xsd="http://www.w3.org/2001/XMLSchema" maxOccurs="1" minOccurs="0" ref="dcterms:modified"/>
        <xsd:element xmlns:xsd="http://www.w3.org/2001/XMLSchema" name="contentStatus" maxOccurs="1" minOccurs="0" type="xsd:string"/>
      </xsd:all>
    </xsd:complexType>
  </xsd:schema>
  <xs:schema xmlns:xs="http://www.w3.org/2001/XMLSchema" targetNamespace="http://schemas.microsoft.com/office/infopath/2007/PartnerControls" attributeFormDefault="unqualified" elementFormDefault="qualified">
    <xs:element xmlns:xs="http://www.w3.org/2001/XMLSchema" name="Person">
      <xs:complexType xmlns:xs="http://www.w3.org/2001/XMLSchema">
        <xs:sequence xmlns:xs="http://www.w3.org/2001/XMLSchema">
          <xs:element xmlns:xs="http://www.w3.org/2001/XMLSchema" minOccurs="0" ref="pc:DisplayName"/>
          <xs:element xmlns:xs="http://www.w3.org/2001/XMLSchema" minOccurs="0" ref="pc:AccountId"/>
          <xs:element xmlns:xs="http://www.w3.org/2001/XMLSchema" minOccurs="0" ref="pc:AccountType"/>
        </xs:sequence>
      </xs:complexType>
    </xs:element>
    <xs:element xmlns:xs="http://www.w3.org/2001/XMLSchema" name="DisplayName" type="xs:string"/>
    <xs:element xmlns:xs="http://www.w3.org/2001/XMLSchema" name="AccountId" type="xs:string"/>
    <xs:element xmlns:xs="http://www.w3.org/2001/XMLSchema" name="AccountType" type="xs:string"/>
    <xs:element xmlns:xs="http://www.w3.org/2001/XMLSchema" name="BDCAssociatedEntity">
      <xs:complexType xmlns:xs="http://www.w3.org/2001/XMLSchema">
        <xs:sequence xmlns:xs="http://www.w3.org/2001/XMLSchema">
          <xs:element xmlns:xs="http://www.w3.org/2001/XMLSchema" maxOccurs="unbounded" minOccurs="0" ref="pc:BDCEntity"/>
        </xs:sequence>
        <xs:attribute xmlns:xs="http://www.w3.org/2001/XMLSchema" ref="pc:EntityNamespace"/>
        <xs:attribute xmlns:xs="http://www.w3.org/2001/XMLSchema" ref="pc:EntityName"/>
        <xs:attribute xmlns:xs="http://www.w3.org/2001/XMLSchema" ref="pc:SystemInstanceName"/>
        <xs:attribute xmlns:xs="http://www.w3.org/2001/XMLSchema" ref="pc:AssociationName"/>
      </xs:complexType>
    </xs:element>
    <xs:attribute xmlns:xs="http://www.w3.org/2001/XMLSchema" name="EntityNamespace" type="xs:string"/>
    <xs:attribute xmlns:xs="http://www.w3.org/2001/XMLSchema" name="EntityName" type="xs:string"/>
    <xs:attribute xmlns:xs="http://www.w3.org/2001/XMLSchema" name="SystemInstanceName" type="xs:string"/>
    <xs:attribute xmlns:xs="http://www.w3.org/2001/XMLSchema" name="AssociationName" type="xs:string"/>
    <xs:element xmlns:xs="http://www.w3.org/2001/XMLSchema" name="BDCEntity">
      <xs:complexType xmlns:xs="http://www.w3.org/2001/XMLSchema">
        <xs:sequence xmlns:xs="http://www.w3.org/2001/XMLSchema">
          <xs:element xmlns:xs="http://www.w3.org/2001/XMLSchema" minOccurs="0" ref="pc:EntityDisplayName"/>
          <xs:element xmlns:xs="http://www.w3.org/2001/XMLSchema" minOccurs="0" ref="pc:EntityInstanceReference"/>
          <xs:element xmlns:xs="http://www.w3.org/2001/XMLSchema" minOccurs="0" ref="pc:EntityId1"/>
          <xs:element xmlns:xs="http://www.w3.org/2001/XMLSchema" minOccurs="0" ref="pc:EntityId2"/>
          <xs:element xmlns:xs="http://www.w3.org/2001/XMLSchema" minOccurs="0" ref="pc:EntityId3"/>
          <xs:element xmlns:xs="http://www.w3.org/2001/XMLSchema" minOccurs="0" ref="pc:EntityId4"/>
          <xs:element xmlns:xs="http://www.w3.org/2001/XMLSchema" minOccurs="0" ref="pc:EntityId5"/>
        </xs:sequence>
      </xs:complexType>
    </xs:element>
    <xs:element xmlns:xs="http://www.w3.org/2001/XMLSchema" name="EntityDisplayName" type="xs:string"/>
    <xs:element xmlns:xs="http://www.w3.org/2001/XMLSchema" name="EntityInstanceReference" type="xs:string"/>
    <xs:element xmlns:xs="http://www.w3.org/2001/XMLSchema" name="EntityId1" type="xs:string"/>
    <xs:element xmlns:xs="http://www.w3.org/2001/XMLSchema" name="EntityId2" type="xs:string"/>
    <xs:element xmlns:xs="http://www.w3.org/2001/XMLSchema" name="EntityId3" type="xs:string"/>
    <xs:element xmlns:xs="http://www.w3.org/2001/XMLSchema" name="EntityId4" type="xs:string"/>
    <xs:element xmlns:xs="http://www.w3.org/2001/XMLSchema" name="EntityId5" type="xs:string"/>
    <xs:element xmlns:xs="http://www.w3.org/2001/XMLSchema" name="Terms">
      <xs:complexType xmlns:xs="http://www.w3.org/2001/XMLSchema">
        <xs:sequence xmlns:xs="http://www.w3.org/2001/XMLSchema">
          <xs:element xmlns:xs="http://www.w3.org/2001/XMLSchema" maxOccurs="unbounded" minOccurs="0" ref="pc:TermInfo"/>
        </xs:sequence>
      </xs:complexType>
    </xs:element>
    <xs:element xmlns:xs="http://www.w3.org/2001/XMLSchema" name="TermInfo">
      <xs:complexType xmlns:xs="http://www.w3.org/2001/XMLSchema">
        <xs:sequence xmlns:xs="http://www.w3.org/2001/XMLSchema">
          <xs:element xmlns:xs="http://www.w3.org/2001/XMLSchema" minOccurs="0" ref="pc:TermName"/>
          <xs:element xmlns:xs="http://www.w3.org/2001/XMLSchema" minOccurs="0" ref="pc:TermId"/>
        </xs:sequence>
      </xs:complexType>
    </xs:element>
    <xs:element xmlns:xs="http://www.w3.org/2001/XMLSchema" name="TermName" type="xs:string"/>
    <xs:element xmlns:xs="http://www.w3.org/2001/XMLSchema" name="TermId" type="xs:string"/>
  </xs:schema>
</ct:contentTypeSchema>
</file>

<file path=customXml/item3.xml><?xml version="1.0" encoding="utf-8"?>
<?mso-contentType ?>
<FormTemplates xmlns="http://schemas.microsoft.com/sharepoint/v3/contenttype/forms">
  <Display xmlns="http://schemas.microsoft.com/sharepoint/v3/contenttype/forms">DocumentLibraryForm</Display>
  <Edit xmlns="http://schemas.microsoft.com/sharepoint/v3/contenttype/forms">DocumentLibraryForm</Edit>
  <New xmlns="http://schemas.microsoft.com/sharepoint/v3/contenttype/forms">DocumentLibraryForm</New>
</FormTemplates>
</file>

<file path=customXml/itemProps1.xml><?xml version="1.0" encoding="utf-8"?>
<ds:datastoreItem xmlns:ds="http://schemas.openxmlformats.org/officeDocument/2006/customXml" ds:itemID="{70F8125E-4FF0-47B1-BE46-3121B16ECC1B}">
  <ds:schemaRefs/>
</ds:datastoreItem>
</file>

<file path=customXml/itemProps2.xml><?xml version="1.0" encoding="utf-8"?>
<ds:datastoreItem xmlns:ds="http://schemas.openxmlformats.org/officeDocument/2006/customXml" ds:itemID="{A1A7B617-F2CD-4815-B926-5FA0F78B134C}">
  <ds:schemaRefs/>
</ds:datastoreItem>
</file>

<file path=customXml/itemProps3.xml><?xml version="1.0" encoding="utf-8"?>
<ds:datastoreItem xmlns:ds="http://schemas.openxmlformats.org/officeDocument/2006/customXml" ds:itemID="{3E5767E8-4B42-4CF5-95F1-D9327865869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Office PowerPoint</Application>
  <PresentationFormat>宽屏</PresentationFormat>
  <Paragraphs>108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Ruiqi Huang</cp:lastModifiedBy>
  <cp:revision>4</cp:revision>
  <dcterms:created xsi:type="dcterms:W3CDTF">2026-02-22T19:12:00Z</dcterms:created>
  <dcterms:modified xsi:type="dcterms:W3CDTF">2026-02-23T16:51:41Z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0x010100F1D26F62E5C4DC4D98FAB396728BB81D</vt:lpwstr>
  </property>
  <property fmtid="{D5CDD505-2E9C-101B-9397-08002B2CF9AE}" pid="3" name="KSOProductBuildVer">
    <vt:lpwstr>2052-12.1.0.25225</vt:lpwstr>
  </property>
  <property fmtid="{D5CDD505-2E9C-101B-9397-08002B2CF9AE}" pid="4" name="ICV">
    <vt:lpwstr>3A49769166924A929452A80C2DA26531_13</vt:lpwstr>
  </property>
</Properties>
</file>